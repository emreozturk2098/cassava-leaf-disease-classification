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embeddedFontLst>
    <p:embeddedFont>
      <p:font typeface="Century Gothic"/>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ir30PLzabSyjhwW0UqgcHTFmYc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enturyGothic-bold.fntdata"/><Relationship Id="rId30" Type="http://schemas.openxmlformats.org/officeDocument/2006/relationships/font" Target="fonts/CenturyGothic-regular.fntdata"/><Relationship Id="rId11" Type="http://schemas.openxmlformats.org/officeDocument/2006/relationships/slide" Target="slides/slide6.xml"/><Relationship Id="rId33" Type="http://schemas.openxmlformats.org/officeDocument/2006/relationships/font" Target="fonts/CenturyGothic-boldItalic.fntdata"/><Relationship Id="rId10" Type="http://schemas.openxmlformats.org/officeDocument/2006/relationships/slide" Target="slides/slide5.xml"/><Relationship Id="rId32" Type="http://schemas.openxmlformats.org/officeDocument/2006/relationships/font" Target="fonts/CenturyGothic-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de868f00e4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de868f00e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de868f00e4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de868f00e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de7668319b_1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de7668319b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de7668319b_1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de7668319b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de868f00e4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de868f00e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21"/>
          <p:cNvSpPr txBox="1"/>
          <p:nvPr>
            <p:ph type="ctrTitle"/>
          </p:nvPr>
        </p:nvSpPr>
        <p:spPr>
          <a:xfrm>
            <a:off x="1154955" y="1447800"/>
            <a:ext cx="8825658" cy="33295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7200"/>
              <a:buFont typeface="Century Gothic"/>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600"/>
              <a:buNone/>
              <a:defRPr cap="none">
                <a:solidFill>
                  <a:srgbClr val="86D1D8"/>
                </a:solidFill>
              </a:defRPr>
            </a:lvl1pPr>
            <a:lvl2pPr lvl="1" algn="ctr">
              <a:spcBef>
                <a:spcPts val="1000"/>
              </a:spcBef>
              <a:spcAft>
                <a:spcPts val="0"/>
              </a:spcAft>
              <a:buSzPts val="1440"/>
              <a:buNone/>
              <a:defRPr>
                <a:solidFill>
                  <a:schemeClr val="lt1"/>
                </a:solidFill>
              </a:defRPr>
            </a:lvl2pPr>
            <a:lvl3pPr lvl="2" algn="ctr">
              <a:spcBef>
                <a:spcPts val="1000"/>
              </a:spcBef>
              <a:spcAft>
                <a:spcPts val="0"/>
              </a:spcAft>
              <a:buSzPts val="1280"/>
              <a:buNone/>
              <a:defRPr>
                <a:solidFill>
                  <a:schemeClr val="lt1"/>
                </a:solidFill>
              </a:defRPr>
            </a:lvl3pPr>
            <a:lvl4pPr lvl="3" algn="ctr">
              <a:spcBef>
                <a:spcPts val="1000"/>
              </a:spcBef>
              <a:spcAft>
                <a:spcPts val="0"/>
              </a:spcAft>
              <a:buSzPts val="1120"/>
              <a:buNone/>
              <a:defRPr>
                <a:solidFill>
                  <a:schemeClr val="lt1"/>
                </a:solidFill>
              </a:defRPr>
            </a:lvl4pPr>
            <a:lvl5pPr lvl="4" algn="ctr">
              <a:spcBef>
                <a:spcPts val="1000"/>
              </a:spcBef>
              <a:spcAft>
                <a:spcPts val="0"/>
              </a:spcAft>
              <a:buSzPts val="1120"/>
              <a:buNone/>
              <a:defRPr>
                <a:solidFill>
                  <a:schemeClr val="lt1"/>
                </a:solidFill>
              </a:defRPr>
            </a:lvl5pPr>
            <a:lvl6pPr lvl="5" algn="ctr">
              <a:spcBef>
                <a:spcPts val="1000"/>
              </a:spcBef>
              <a:spcAft>
                <a:spcPts val="0"/>
              </a:spcAft>
              <a:buSzPts val="1120"/>
              <a:buNone/>
              <a:defRPr>
                <a:solidFill>
                  <a:schemeClr val="lt1"/>
                </a:solidFill>
              </a:defRPr>
            </a:lvl6pPr>
            <a:lvl7pPr lvl="6" algn="ctr">
              <a:spcBef>
                <a:spcPts val="1000"/>
              </a:spcBef>
              <a:spcAft>
                <a:spcPts val="0"/>
              </a:spcAft>
              <a:buSzPts val="1120"/>
              <a:buNone/>
              <a:defRPr>
                <a:solidFill>
                  <a:schemeClr val="lt1"/>
                </a:solidFill>
              </a:defRPr>
            </a:lvl7pPr>
            <a:lvl8pPr lvl="7" algn="ctr">
              <a:spcBef>
                <a:spcPts val="1000"/>
              </a:spcBef>
              <a:spcAft>
                <a:spcPts val="0"/>
              </a:spcAft>
              <a:buSzPts val="1120"/>
              <a:buNone/>
              <a:defRPr>
                <a:solidFill>
                  <a:schemeClr val="lt1"/>
                </a:solidFill>
              </a:defRPr>
            </a:lvl8pPr>
            <a:lvl9pPr lvl="8" algn="ctr">
              <a:spcBef>
                <a:spcPts val="1000"/>
              </a:spcBef>
              <a:spcAft>
                <a:spcPts val="0"/>
              </a:spcAft>
              <a:buSzPts val="1120"/>
              <a:buNone/>
              <a:defRPr>
                <a:solidFill>
                  <a:schemeClr val="lt1"/>
                </a:solidFill>
              </a:defRPr>
            </a:lvl9pPr>
          </a:lstStyle>
          <a:p/>
        </p:txBody>
      </p:sp>
      <p:sp>
        <p:nvSpPr>
          <p:cNvPr id="20" name="Google Shape;20;p2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2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6" name="Google Shape;26;p2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25"/>
          <p:cNvSpPr txBox="1"/>
          <p:nvPr>
            <p:ph type="title"/>
          </p:nvPr>
        </p:nvSpPr>
        <p:spPr>
          <a:xfrm>
            <a:off x="1154956" y="2861733"/>
            <a:ext cx="8825657" cy="191564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5"/>
          <p:cNvSpPr txBox="1"/>
          <p:nvPr>
            <p:ph idx="1" type="body"/>
          </p:nvPr>
        </p:nvSpPr>
        <p:spPr>
          <a:xfrm>
            <a:off x="1154955" y="4777381"/>
            <a:ext cx="882565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32" name="Google Shape;32;p2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26"/>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6"/>
          <p:cNvSpPr txBox="1"/>
          <p:nvPr>
            <p:ph idx="1" type="body"/>
          </p:nvPr>
        </p:nvSpPr>
        <p:spPr>
          <a:xfrm>
            <a:off x="1103312" y="2060575"/>
            <a:ext cx="4396339" cy="419576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8" name="Google Shape;38;p26"/>
          <p:cNvSpPr txBox="1"/>
          <p:nvPr>
            <p:ph idx="2" type="body"/>
          </p:nvPr>
        </p:nvSpPr>
        <p:spPr>
          <a:xfrm>
            <a:off x="5654493" y="2056092"/>
            <a:ext cx="4396341" cy="420024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9" name="Google Shape;39;p2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2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7"/>
          <p:cNvSpPr txBox="1"/>
          <p:nvPr>
            <p:ph idx="1" type="body"/>
          </p:nvPr>
        </p:nvSpPr>
        <p:spPr>
          <a:xfrm>
            <a:off x="1103313" y="1905000"/>
            <a:ext cx="439633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5" name="Google Shape;45;p27"/>
          <p:cNvSpPr txBox="1"/>
          <p:nvPr>
            <p:ph idx="2" type="body"/>
          </p:nvPr>
        </p:nvSpPr>
        <p:spPr>
          <a:xfrm>
            <a:off x="1103312"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6" name="Google Shape;46;p27"/>
          <p:cNvSpPr txBox="1"/>
          <p:nvPr>
            <p:ph idx="3" type="body"/>
          </p:nvPr>
        </p:nvSpPr>
        <p:spPr>
          <a:xfrm>
            <a:off x="5654495" y="1905000"/>
            <a:ext cx="439633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7" name="Google Shape;47;p27"/>
          <p:cNvSpPr txBox="1"/>
          <p:nvPr>
            <p:ph idx="4" type="body"/>
          </p:nvPr>
        </p:nvSpPr>
        <p:spPr>
          <a:xfrm>
            <a:off x="5654495"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8" name="Google Shape;48;p2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28"/>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2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30"/>
          <p:cNvSpPr txBox="1"/>
          <p:nvPr>
            <p:ph type="title"/>
          </p:nvPr>
        </p:nvSpPr>
        <p:spPr>
          <a:xfrm>
            <a:off x="1154953" y="1447800"/>
            <a:ext cx="3401064" cy="1447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0"/>
          <p:cNvSpPr txBox="1"/>
          <p:nvPr>
            <p:ph idx="1" type="body"/>
          </p:nvPr>
        </p:nvSpPr>
        <p:spPr>
          <a:xfrm>
            <a:off x="4784616" y="1447800"/>
            <a:ext cx="5195997" cy="4572000"/>
          </a:xfrm>
          <a:prstGeom prst="rect">
            <a:avLst/>
          </a:prstGeom>
          <a:noFill/>
          <a:ln>
            <a:noFill/>
          </a:ln>
        </p:spPr>
        <p:txBody>
          <a:bodyPr anchorCtr="0" anchor="ctr" bIns="45700" lIns="91425" spcFirstLastPara="1" rIns="91425" wrap="square" tIns="45700">
            <a:normAutofit/>
          </a:bodyPr>
          <a:lstStyle>
            <a:lvl1pPr indent="-330200" lvl="0" marL="457200" algn="l">
              <a:spcBef>
                <a:spcPts val="1000"/>
              </a:spcBef>
              <a:spcAft>
                <a:spcPts val="0"/>
              </a:spcAft>
              <a:buSzPts val="1600"/>
              <a:buChar char="►"/>
              <a:defRPr sz="2000"/>
            </a:lvl1pPr>
            <a:lvl2pPr indent="-320040" lvl="1" marL="914400" algn="l">
              <a:spcBef>
                <a:spcPts val="1000"/>
              </a:spcBef>
              <a:spcAft>
                <a:spcPts val="0"/>
              </a:spcAft>
              <a:buSzPts val="1440"/>
              <a:buChar char="►"/>
              <a:defRPr sz="1800"/>
            </a:lvl2pPr>
            <a:lvl3pPr indent="-309880" lvl="2" marL="1371600" algn="l">
              <a:spcBef>
                <a:spcPts val="1000"/>
              </a:spcBef>
              <a:spcAft>
                <a:spcPts val="0"/>
              </a:spcAft>
              <a:buSzPts val="1280"/>
              <a:buChar char="►"/>
              <a:defRPr sz="1600"/>
            </a:lvl3pPr>
            <a:lvl4pPr indent="-299719" lvl="3" marL="1828800" algn="l">
              <a:spcBef>
                <a:spcPts val="1000"/>
              </a:spcBef>
              <a:spcAft>
                <a:spcPts val="0"/>
              </a:spcAft>
              <a:buSzPts val="1120"/>
              <a:buChar char="►"/>
              <a:defRPr sz="1400"/>
            </a:lvl4pPr>
            <a:lvl5pPr indent="-299720" lvl="4" marL="2286000" algn="l">
              <a:spcBef>
                <a:spcPts val="1000"/>
              </a:spcBef>
              <a:spcAft>
                <a:spcPts val="0"/>
              </a:spcAft>
              <a:buSzPts val="1120"/>
              <a:buChar char="►"/>
              <a:defRPr sz="1400"/>
            </a:lvl5pPr>
            <a:lvl6pPr indent="-299720" lvl="5" marL="2743200" algn="l">
              <a:spcBef>
                <a:spcPts val="1000"/>
              </a:spcBef>
              <a:spcAft>
                <a:spcPts val="0"/>
              </a:spcAft>
              <a:buSzPts val="1120"/>
              <a:buChar char="►"/>
              <a:defRPr sz="1400"/>
            </a:lvl6pPr>
            <a:lvl7pPr indent="-299720" lvl="6" marL="3200400" algn="l">
              <a:spcBef>
                <a:spcPts val="1000"/>
              </a:spcBef>
              <a:spcAft>
                <a:spcPts val="0"/>
              </a:spcAft>
              <a:buSzPts val="1120"/>
              <a:buChar char="►"/>
              <a:defRPr sz="1400"/>
            </a:lvl7pPr>
            <a:lvl8pPr indent="-299720" lvl="7" marL="3657600" algn="l">
              <a:spcBef>
                <a:spcPts val="1000"/>
              </a:spcBef>
              <a:spcAft>
                <a:spcPts val="0"/>
              </a:spcAft>
              <a:buSzPts val="1120"/>
              <a:buChar char="►"/>
              <a:defRPr sz="1400"/>
            </a:lvl8pPr>
            <a:lvl9pPr indent="-299720" lvl="8" marL="4114800" algn="l">
              <a:spcBef>
                <a:spcPts val="1000"/>
              </a:spcBef>
              <a:spcAft>
                <a:spcPts val="0"/>
              </a:spcAft>
              <a:buSzPts val="1120"/>
              <a:buChar char="►"/>
              <a:defRPr sz="1400"/>
            </a:lvl9pPr>
          </a:lstStyle>
          <a:p/>
        </p:txBody>
      </p:sp>
      <p:sp>
        <p:nvSpPr>
          <p:cNvPr id="63" name="Google Shape;63;p30"/>
          <p:cNvSpPr txBox="1"/>
          <p:nvPr>
            <p:ph idx="2" type="body"/>
          </p:nvPr>
        </p:nvSpPr>
        <p:spPr>
          <a:xfrm>
            <a:off x="1154953" y="3129280"/>
            <a:ext cx="3401063"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64" name="Google Shape;64;p3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31"/>
          <p:cNvSpPr txBox="1"/>
          <p:nvPr>
            <p:ph type="title"/>
          </p:nvPr>
        </p:nvSpPr>
        <p:spPr>
          <a:xfrm>
            <a:off x="1153907" y="1854192"/>
            <a:ext cx="5092906" cy="157480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1"/>
          <p:cNvSpPr/>
          <p:nvPr>
            <p:ph idx="2" type="pic"/>
          </p:nvPr>
        </p:nvSpPr>
        <p:spPr>
          <a:xfrm>
            <a:off x="6949546" y="1143000"/>
            <a:ext cx="3200400"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70" name="Google Shape;70;p31"/>
          <p:cNvSpPr txBox="1"/>
          <p:nvPr>
            <p:ph idx="1" type="body"/>
          </p:nvPr>
        </p:nvSpPr>
        <p:spPr>
          <a:xfrm>
            <a:off x="1154954" y="3657600"/>
            <a:ext cx="5084979"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1" name="Google Shape;71;p3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4" name="Shape 74"/>
        <p:cNvGrpSpPr/>
        <p:nvPr/>
      </p:nvGrpSpPr>
      <p:grpSpPr>
        <a:xfrm>
          <a:off x="0" y="0"/>
          <a:ext cx="0" cy="0"/>
          <a:chOff x="0" y="0"/>
          <a:chExt cx="0" cy="0"/>
        </a:xfrm>
      </p:grpSpPr>
      <p:sp>
        <p:nvSpPr>
          <p:cNvPr id="75" name="Google Shape;75;p32"/>
          <p:cNvSpPr txBox="1"/>
          <p:nvPr>
            <p:ph type="title"/>
          </p:nvPr>
        </p:nvSpPr>
        <p:spPr>
          <a:xfrm>
            <a:off x="1154956" y="4800587"/>
            <a:ext cx="882565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2"/>
          <p:cNvSpPr/>
          <p:nvPr>
            <p:ph idx="2" type="pic"/>
          </p:nvPr>
        </p:nvSpPr>
        <p:spPr>
          <a:xfrm>
            <a:off x="1154955" y="685800"/>
            <a:ext cx="8825658" cy="3640666"/>
          </a:xfrm>
          <a:prstGeom prst="roundRect">
            <a:avLst>
              <a:gd fmla="val 1858" name="adj"/>
            </a:avLst>
          </a:prstGeom>
          <a:noFill/>
          <a:ln>
            <a:noFill/>
          </a:ln>
          <a:effectLst>
            <a:outerShdw blurRad="50800" rotWithShape="0" algn="tl" dir="5400000" dist="50800">
              <a:srgbClr val="000000">
                <a:alpha val="42745"/>
              </a:srgbClr>
            </a:outerShdw>
          </a:effectLst>
        </p:spPr>
      </p:sp>
      <p:sp>
        <p:nvSpPr>
          <p:cNvPr id="77" name="Google Shape;77;p32"/>
          <p:cNvSpPr txBox="1"/>
          <p:nvPr>
            <p:ph idx="1" type="body"/>
          </p:nvPr>
        </p:nvSpPr>
        <p:spPr>
          <a:xfrm>
            <a:off x="1154956" y="5367325"/>
            <a:ext cx="8825656"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8" name="Google Shape;78;p3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1" name="Shape 81"/>
        <p:cNvGrpSpPr/>
        <p:nvPr/>
      </p:nvGrpSpPr>
      <p:grpSpPr>
        <a:xfrm>
          <a:off x="0" y="0"/>
          <a:ext cx="0" cy="0"/>
          <a:chOff x="0" y="0"/>
          <a:chExt cx="0" cy="0"/>
        </a:xfrm>
      </p:grpSpPr>
      <p:sp>
        <p:nvSpPr>
          <p:cNvPr id="82" name="Google Shape;82;p33"/>
          <p:cNvSpPr txBox="1"/>
          <p:nvPr>
            <p:ph type="title"/>
          </p:nvPr>
        </p:nvSpPr>
        <p:spPr>
          <a:xfrm>
            <a:off x="1154954" y="1447800"/>
            <a:ext cx="8825659" cy="1981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3"/>
          <p:cNvSpPr txBox="1"/>
          <p:nvPr>
            <p:ph idx="1" type="body"/>
          </p:nvPr>
        </p:nvSpPr>
        <p:spPr>
          <a:xfrm>
            <a:off x="1154954" y="3657600"/>
            <a:ext cx="8825659" cy="23622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4" name="Google Shape;84;p3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7" name="Shape 87"/>
        <p:cNvGrpSpPr/>
        <p:nvPr/>
      </p:nvGrpSpPr>
      <p:grpSpPr>
        <a:xfrm>
          <a:off x="0" y="0"/>
          <a:ext cx="0" cy="0"/>
          <a:chOff x="0" y="0"/>
          <a:chExt cx="0" cy="0"/>
        </a:xfrm>
      </p:grpSpPr>
      <p:sp>
        <p:nvSpPr>
          <p:cNvPr id="88" name="Google Shape;88;p34"/>
          <p:cNvSpPr txBox="1"/>
          <p:nvPr>
            <p:ph type="title"/>
          </p:nvPr>
        </p:nvSpPr>
        <p:spPr>
          <a:xfrm>
            <a:off x="1574801" y="1447800"/>
            <a:ext cx="7999315" cy="2323374"/>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4"/>
          <p:cNvSpPr txBox="1"/>
          <p:nvPr>
            <p:ph idx="1" type="body"/>
          </p:nvPr>
        </p:nvSpPr>
        <p:spPr>
          <a:xfrm>
            <a:off x="1930400" y="3771174"/>
            <a:ext cx="7279649"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rgbClr val="86D1D8"/>
                </a:solidFill>
                <a:latin typeface="Century Gothic"/>
                <a:ea typeface="Century Gothic"/>
                <a:cs typeface="Century Gothic"/>
                <a:sym typeface="Century Gothic"/>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0" name="Google Shape;90;p34"/>
          <p:cNvSpPr txBox="1"/>
          <p:nvPr>
            <p:ph idx="2" type="body"/>
          </p:nvPr>
        </p:nvSpPr>
        <p:spPr>
          <a:xfrm>
            <a:off x="1154954" y="4350657"/>
            <a:ext cx="8825659" cy="16764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3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4" name="Google Shape;94;p34"/>
          <p:cNvSpPr txBox="1"/>
          <p:nvPr/>
        </p:nvSpPr>
        <p:spPr>
          <a:xfrm>
            <a:off x="898295" y="971253"/>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a:solidFill>
                  <a:srgbClr val="86D1D8"/>
                </a:solidFill>
                <a:latin typeface="Arial"/>
                <a:ea typeface="Arial"/>
                <a:cs typeface="Arial"/>
                <a:sym typeface="Arial"/>
              </a:rPr>
              <a:t>“</a:t>
            </a:r>
            <a:endParaRPr/>
          </a:p>
        </p:txBody>
      </p:sp>
      <p:sp>
        <p:nvSpPr>
          <p:cNvPr id="95" name="Google Shape;95;p34"/>
          <p:cNvSpPr txBox="1"/>
          <p:nvPr/>
        </p:nvSpPr>
        <p:spPr>
          <a:xfrm>
            <a:off x="9330490" y="2613787"/>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a:solidFill>
                  <a:srgbClr val="86D1D8"/>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6" name="Shape 96"/>
        <p:cNvGrpSpPr/>
        <p:nvPr/>
      </p:nvGrpSpPr>
      <p:grpSpPr>
        <a:xfrm>
          <a:off x="0" y="0"/>
          <a:ext cx="0" cy="0"/>
          <a:chOff x="0" y="0"/>
          <a:chExt cx="0" cy="0"/>
        </a:xfrm>
      </p:grpSpPr>
      <p:sp>
        <p:nvSpPr>
          <p:cNvPr id="97" name="Google Shape;97;p35"/>
          <p:cNvSpPr txBox="1"/>
          <p:nvPr>
            <p:ph type="title"/>
          </p:nvPr>
        </p:nvSpPr>
        <p:spPr>
          <a:xfrm>
            <a:off x="1154954" y="3124201"/>
            <a:ext cx="8825660" cy="165318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5"/>
          <p:cNvSpPr txBox="1"/>
          <p:nvPr>
            <p:ph idx="1" type="body"/>
          </p:nvPr>
        </p:nvSpPr>
        <p:spPr>
          <a:xfrm>
            <a:off x="1154954" y="4777381"/>
            <a:ext cx="882565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99" name="Google Shape;99;p3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3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p36"/>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36"/>
          <p:cNvSpPr txBox="1"/>
          <p:nvPr>
            <p:ph idx="1" type="body"/>
          </p:nvPr>
        </p:nvSpPr>
        <p:spPr>
          <a:xfrm>
            <a:off x="632947" y="1981200"/>
            <a:ext cx="294686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5" name="Google Shape;105;p36"/>
          <p:cNvSpPr txBox="1"/>
          <p:nvPr>
            <p:ph idx="2" type="body"/>
          </p:nvPr>
        </p:nvSpPr>
        <p:spPr>
          <a:xfrm>
            <a:off x="652463" y="2667000"/>
            <a:ext cx="2927350"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6" name="Google Shape;106;p36"/>
          <p:cNvSpPr txBox="1"/>
          <p:nvPr>
            <p:ph idx="3" type="body"/>
          </p:nvPr>
        </p:nvSpPr>
        <p:spPr>
          <a:xfrm>
            <a:off x="3883659" y="1981200"/>
            <a:ext cx="293624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7" name="Google Shape;107;p36"/>
          <p:cNvSpPr txBox="1"/>
          <p:nvPr>
            <p:ph idx="4" type="body"/>
          </p:nvPr>
        </p:nvSpPr>
        <p:spPr>
          <a:xfrm>
            <a:off x="3873106" y="2667000"/>
            <a:ext cx="2946794"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8" name="Google Shape;108;p36"/>
          <p:cNvSpPr txBox="1"/>
          <p:nvPr>
            <p:ph idx="5" type="body"/>
          </p:nvPr>
        </p:nvSpPr>
        <p:spPr>
          <a:xfrm>
            <a:off x="7124700" y="1981200"/>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9" name="Google Shape;109;p36"/>
          <p:cNvSpPr txBox="1"/>
          <p:nvPr>
            <p:ph idx="6" type="body"/>
          </p:nvPr>
        </p:nvSpPr>
        <p:spPr>
          <a:xfrm>
            <a:off x="7124700" y="2667000"/>
            <a:ext cx="2932113"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10" name="Google Shape;110;p36"/>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11" name="Google Shape;111;p36"/>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12" name="Google Shape;112;p3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3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5" name="Shape 115"/>
        <p:cNvGrpSpPr/>
        <p:nvPr/>
      </p:nvGrpSpPr>
      <p:grpSpPr>
        <a:xfrm>
          <a:off x="0" y="0"/>
          <a:ext cx="0" cy="0"/>
          <a:chOff x="0" y="0"/>
          <a:chExt cx="0" cy="0"/>
        </a:xfrm>
      </p:grpSpPr>
      <p:sp>
        <p:nvSpPr>
          <p:cNvPr id="116" name="Google Shape;116;p3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7"/>
          <p:cNvSpPr txBox="1"/>
          <p:nvPr>
            <p:ph idx="1" type="body"/>
          </p:nvPr>
        </p:nvSpPr>
        <p:spPr>
          <a:xfrm>
            <a:off x="652463" y="4250949"/>
            <a:ext cx="2940050"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8" name="Google Shape;118;p37"/>
          <p:cNvSpPr/>
          <p:nvPr>
            <p:ph idx="2" type="pic"/>
          </p:nvPr>
        </p:nvSpPr>
        <p:spPr>
          <a:xfrm>
            <a:off x="652463" y="2209800"/>
            <a:ext cx="2940050"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19" name="Google Shape;119;p37"/>
          <p:cNvSpPr txBox="1"/>
          <p:nvPr>
            <p:ph idx="3" type="body"/>
          </p:nvPr>
        </p:nvSpPr>
        <p:spPr>
          <a:xfrm>
            <a:off x="652463" y="4827211"/>
            <a:ext cx="2940050"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0" name="Google Shape;120;p37"/>
          <p:cNvSpPr txBox="1"/>
          <p:nvPr>
            <p:ph idx="4" type="body"/>
          </p:nvPr>
        </p:nvSpPr>
        <p:spPr>
          <a:xfrm>
            <a:off x="3889375" y="4250949"/>
            <a:ext cx="293052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1" name="Google Shape;121;p37"/>
          <p:cNvSpPr/>
          <p:nvPr>
            <p:ph idx="5" type="pic"/>
          </p:nvPr>
        </p:nvSpPr>
        <p:spPr>
          <a:xfrm>
            <a:off x="3889374" y="2209800"/>
            <a:ext cx="2930525"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2" name="Google Shape;122;p37"/>
          <p:cNvSpPr txBox="1"/>
          <p:nvPr>
            <p:ph idx="6" type="body"/>
          </p:nvPr>
        </p:nvSpPr>
        <p:spPr>
          <a:xfrm>
            <a:off x="3888022" y="4827210"/>
            <a:ext cx="2934406"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3" name="Google Shape;123;p37"/>
          <p:cNvSpPr txBox="1"/>
          <p:nvPr>
            <p:ph idx="7" type="body"/>
          </p:nvPr>
        </p:nvSpPr>
        <p:spPr>
          <a:xfrm>
            <a:off x="7124700" y="4250949"/>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4" name="Google Shape;124;p37"/>
          <p:cNvSpPr/>
          <p:nvPr>
            <p:ph idx="8" type="pic"/>
          </p:nvPr>
        </p:nvSpPr>
        <p:spPr>
          <a:xfrm>
            <a:off x="7124699" y="2209800"/>
            <a:ext cx="2932113"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5" name="Google Shape;125;p37"/>
          <p:cNvSpPr txBox="1"/>
          <p:nvPr>
            <p:ph idx="9" type="body"/>
          </p:nvPr>
        </p:nvSpPr>
        <p:spPr>
          <a:xfrm>
            <a:off x="7124575" y="4827208"/>
            <a:ext cx="2935997"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26" name="Google Shape;126;p37"/>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27" name="Google Shape;127;p37"/>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28" name="Google Shape;128;p3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3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38"/>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8"/>
          <p:cNvSpPr txBox="1"/>
          <p:nvPr>
            <p:ph idx="1" type="body"/>
          </p:nvPr>
        </p:nvSpPr>
        <p:spPr>
          <a:xfrm rot="5400000">
            <a:off x="3478842" y="-322612"/>
            <a:ext cx="4195481" cy="894654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3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39"/>
          <p:cNvSpPr txBox="1"/>
          <p:nvPr>
            <p:ph type="title"/>
          </p:nvPr>
        </p:nvSpPr>
        <p:spPr>
          <a:xfrm rot="5400000">
            <a:off x="6267450" y="2466975"/>
            <a:ext cx="5826125" cy="17526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9"/>
          <p:cNvSpPr txBox="1"/>
          <p:nvPr>
            <p:ph idx="1" type="body"/>
          </p:nvPr>
        </p:nvSpPr>
        <p:spPr>
          <a:xfrm rot="5400000">
            <a:off x="1679576" y="-139699"/>
            <a:ext cx="5368924" cy="742314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3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5" name="Shape 155"/>
        <p:cNvGrpSpPr/>
        <p:nvPr/>
      </p:nvGrpSpPr>
      <p:grpSpPr>
        <a:xfrm>
          <a:off x="0" y="0"/>
          <a:ext cx="0" cy="0"/>
          <a:chOff x="0" y="0"/>
          <a:chExt cx="0" cy="0"/>
        </a:xfrm>
      </p:grpSpPr>
      <p:sp>
        <p:nvSpPr>
          <p:cNvPr id="156" name="Google Shape;156;p24"/>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24"/>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58" name="Google Shape;158;p2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2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2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5.xml"/><Relationship Id="rId11" Type="http://schemas.openxmlformats.org/officeDocument/2006/relationships/slideLayout" Target="../slideLayouts/slideLayout6.xml"/><Relationship Id="rId22" Type="http://schemas.openxmlformats.org/officeDocument/2006/relationships/slideLayout" Target="../slideLayouts/slideLayout17.xml"/><Relationship Id="rId10" Type="http://schemas.openxmlformats.org/officeDocument/2006/relationships/slideLayout" Target="../slideLayouts/slideLayout5.xml"/><Relationship Id="rId21" Type="http://schemas.openxmlformats.org/officeDocument/2006/relationships/slideLayout" Target="../slideLayouts/slideLayout16.xml"/><Relationship Id="rId13" Type="http://schemas.openxmlformats.org/officeDocument/2006/relationships/slideLayout" Target="../slideLayouts/slideLayout8.xml"/><Relationship Id="rId12" Type="http://schemas.openxmlformats.org/officeDocument/2006/relationships/slideLayout" Target="../slideLayouts/slideLayout7.xml"/><Relationship Id="rId23" Type="http://schemas.openxmlformats.org/officeDocument/2006/relationships/theme" Target="../theme/theme1.xml"/><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slideLayout" Target="../slideLayouts/slideLayout4.xml"/><Relationship Id="rId15" Type="http://schemas.openxmlformats.org/officeDocument/2006/relationships/slideLayout" Target="../slideLayouts/slideLayout10.xml"/><Relationship Id="rId14" Type="http://schemas.openxmlformats.org/officeDocument/2006/relationships/slideLayout" Target="../slideLayouts/slideLayout9.xml"/><Relationship Id="rId17" Type="http://schemas.openxmlformats.org/officeDocument/2006/relationships/slideLayout" Target="../slideLayouts/slideLayout12.xml"/><Relationship Id="rId16" Type="http://schemas.openxmlformats.org/officeDocument/2006/relationships/slideLayout" Target="../slideLayouts/slideLayout11.xml"/><Relationship Id="rId5" Type="http://schemas.openxmlformats.org/officeDocument/2006/relationships/image" Target="../media/image3.png"/><Relationship Id="rId19" Type="http://schemas.openxmlformats.org/officeDocument/2006/relationships/slideLayout" Target="../slideLayouts/slideLayout14.xml"/><Relationship Id="rId6" Type="http://schemas.openxmlformats.org/officeDocument/2006/relationships/slideLayout" Target="../slideLayouts/slideLayout1.xml"/><Relationship Id="rId18" Type="http://schemas.openxmlformats.org/officeDocument/2006/relationships/slideLayout" Target="../slideLayouts/slideLayout13.xml"/><Relationship Id="rId7" Type="http://schemas.openxmlformats.org/officeDocument/2006/relationships/slideLayout" Target="../slideLayouts/slideLayout2.xml"/><Relationship Id="rId8"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slideLayout" Target="../slideLayouts/slideLayout18.xml"/><Relationship Id="rId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pic>
        <p:nvPicPr>
          <p:cNvPr id="6" name="Google Shape;6;p20"/>
          <p:cNvPicPr preferRelativeResize="0"/>
          <p:nvPr/>
        </p:nvPicPr>
        <p:blipFill rotWithShape="1">
          <a:blip r:embed="rId2">
            <a:alphaModFix/>
          </a:blip>
          <a:srcRect b="0" l="3613" r="0" t="0"/>
          <a:stretch/>
        </p:blipFill>
        <p:spPr>
          <a:xfrm>
            <a:off x="0" y="2669685"/>
            <a:ext cx="4037012" cy="4188315"/>
          </a:xfrm>
          <a:prstGeom prst="rect">
            <a:avLst/>
          </a:prstGeom>
          <a:noFill/>
          <a:ln>
            <a:noFill/>
          </a:ln>
        </p:spPr>
      </p:pic>
      <p:pic>
        <p:nvPicPr>
          <p:cNvPr id="7" name="Google Shape;7;p20"/>
          <p:cNvPicPr preferRelativeResize="0"/>
          <p:nvPr/>
        </p:nvPicPr>
        <p:blipFill rotWithShape="1">
          <a:blip r:embed="rId3">
            <a:alphaModFix/>
          </a:blip>
          <a:srcRect b="0" l="35640" r="0" t="0"/>
          <a:stretch/>
        </p:blipFill>
        <p:spPr>
          <a:xfrm>
            <a:off x="0" y="2892347"/>
            <a:ext cx="1522412" cy="2365453"/>
          </a:xfrm>
          <a:prstGeom prst="rect">
            <a:avLst/>
          </a:prstGeom>
          <a:noFill/>
          <a:ln>
            <a:noFill/>
          </a:ln>
        </p:spPr>
      </p:pic>
      <p:sp>
        <p:nvSpPr>
          <p:cNvPr id="8" name="Google Shape;8;p20"/>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 name="Google Shape;9;p20"/>
          <p:cNvPicPr preferRelativeResize="0"/>
          <p:nvPr/>
        </p:nvPicPr>
        <p:blipFill rotWithShape="1">
          <a:blip r:embed="rId4">
            <a:alphaModFix/>
          </a:blip>
          <a:srcRect b="0" l="0" r="0" t="28812"/>
          <a:stretch/>
        </p:blipFill>
        <p:spPr>
          <a:xfrm>
            <a:off x="7999412" y="0"/>
            <a:ext cx="1603387" cy="1141407"/>
          </a:xfrm>
          <a:prstGeom prst="rect">
            <a:avLst/>
          </a:prstGeom>
          <a:noFill/>
          <a:ln>
            <a:noFill/>
          </a:ln>
        </p:spPr>
      </p:pic>
      <p:pic>
        <p:nvPicPr>
          <p:cNvPr id="10" name="Google Shape;10;p20"/>
          <p:cNvPicPr preferRelativeResize="0"/>
          <p:nvPr/>
        </p:nvPicPr>
        <p:blipFill rotWithShape="1">
          <a:blip r:embed="rId5">
            <a:alphaModFix/>
          </a:blip>
          <a:srcRect b="23320" l="0" r="0" t="0"/>
          <a:stretch/>
        </p:blipFill>
        <p:spPr>
          <a:xfrm>
            <a:off x="8605878" y="6096000"/>
            <a:ext cx="993734" cy="762000"/>
          </a:xfrm>
          <a:prstGeom prst="rect">
            <a:avLst/>
          </a:prstGeom>
          <a:noFill/>
          <a:ln>
            <a:noFill/>
          </a:ln>
        </p:spPr>
      </p:pic>
      <p:sp>
        <p:nvSpPr>
          <p:cNvPr id="11" name="Google Shape;11;p2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0"/>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2"/>
              </a:buClr>
              <a:buSzPts val="4200"/>
              <a:buFont typeface="Century Gothic"/>
              <a:buNone/>
              <a:defRPr b="0" i="0" sz="420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3" name="Google Shape;13;p20"/>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rgbClr val="86D1D8"/>
              </a:buClr>
              <a:buSzPts val="1600"/>
              <a:buFont typeface="Noto Sans Symbols"/>
              <a:buChar char="►"/>
              <a:defRPr b="0" i="0" sz="2000" u="none" cap="none" strike="noStrike">
                <a:solidFill>
                  <a:schemeClr val="lt1"/>
                </a:solidFill>
                <a:latin typeface="Century Gothic"/>
                <a:ea typeface="Century Gothic"/>
                <a:cs typeface="Century Gothic"/>
                <a:sym typeface="Century Gothic"/>
              </a:defRPr>
            </a:lvl1pPr>
            <a:lvl2pPr indent="-320040" lvl="1" marL="914400" marR="0" rtl="0" algn="l">
              <a:spcBef>
                <a:spcPts val="1000"/>
              </a:spcBef>
              <a:spcAft>
                <a:spcPts val="0"/>
              </a:spcAft>
              <a:buClr>
                <a:srgbClr val="86D1D8"/>
              </a:buClr>
              <a:buSzPts val="1440"/>
              <a:buFont typeface="Noto Sans Symbols"/>
              <a:buChar char="►"/>
              <a:defRPr b="0" i="0" sz="1800" u="none" cap="none" strike="noStrike">
                <a:solidFill>
                  <a:schemeClr val="lt1"/>
                </a:solidFill>
                <a:latin typeface="Century Gothic"/>
                <a:ea typeface="Century Gothic"/>
                <a:cs typeface="Century Gothic"/>
                <a:sym typeface="Century Gothic"/>
              </a:defRPr>
            </a:lvl2pPr>
            <a:lvl3pPr indent="-309880" lvl="2" marL="1371600" marR="0" rtl="0" algn="l">
              <a:spcBef>
                <a:spcPts val="1000"/>
              </a:spcBef>
              <a:spcAft>
                <a:spcPts val="0"/>
              </a:spcAft>
              <a:buClr>
                <a:srgbClr val="86D1D8"/>
              </a:buClr>
              <a:buSzPts val="1280"/>
              <a:buFont typeface="Noto Sans Symbols"/>
              <a:buChar char="►"/>
              <a:defRPr b="0" i="0" sz="1600" u="none" cap="none" strike="noStrike">
                <a:solidFill>
                  <a:schemeClr val="lt1"/>
                </a:solidFill>
                <a:latin typeface="Century Gothic"/>
                <a:ea typeface="Century Gothic"/>
                <a:cs typeface="Century Gothic"/>
                <a:sym typeface="Century Gothic"/>
              </a:defRPr>
            </a:lvl3pPr>
            <a:lvl4pPr indent="-299719" lvl="3" marL="1828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4pPr>
            <a:lvl5pPr indent="-299720" lvl="4" marL="22860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5pPr>
            <a:lvl6pPr indent="-299720" lvl="5" marL="27432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6pPr>
            <a:lvl7pPr indent="-299720" lvl="6" marL="32004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7pPr>
            <a:lvl8pPr indent="-299720" lvl="7" marL="36576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8pPr>
            <a:lvl9pPr indent="-299720" lvl="8" marL="4114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4" name="Google Shape;14;p2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5" name="Google Shape;15;p2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6" name="Google Shape;16;p2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0" u="none" cap="none" strike="noStrike">
                <a:solidFill>
                  <a:schemeClr val="lt1"/>
                </a:solidFill>
                <a:latin typeface="Century Gothic"/>
                <a:ea typeface="Century Gothic"/>
                <a:cs typeface="Century Gothic"/>
                <a:sym typeface="Century Gothic"/>
              </a:defRPr>
            </a:lvl1pPr>
            <a:lvl2pPr indent="0" lvl="1" marL="0" marR="0" rtl="0" algn="ctr">
              <a:spcBef>
                <a:spcPts val="0"/>
              </a:spcBef>
              <a:buNone/>
              <a:defRPr b="0" i="0" sz="2800" u="none" cap="none" strike="noStrike">
                <a:solidFill>
                  <a:schemeClr val="lt1"/>
                </a:solidFill>
                <a:latin typeface="Century Gothic"/>
                <a:ea typeface="Century Gothic"/>
                <a:cs typeface="Century Gothic"/>
                <a:sym typeface="Century Gothic"/>
              </a:defRPr>
            </a:lvl2pPr>
            <a:lvl3pPr indent="0" lvl="2" marL="0" marR="0" rtl="0" algn="ctr">
              <a:spcBef>
                <a:spcPts val="0"/>
              </a:spcBef>
              <a:buNone/>
              <a:defRPr b="0" i="0" sz="2800" u="none" cap="none" strike="noStrike">
                <a:solidFill>
                  <a:schemeClr val="lt1"/>
                </a:solidFill>
                <a:latin typeface="Century Gothic"/>
                <a:ea typeface="Century Gothic"/>
                <a:cs typeface="Century Gothic"/>
                <a:sym typeface="Century Gothic"/>
              </a:defRPr>
            </a:lvl3pPr>
            <a:lvl4pPr indent="0" lvl="3" marL="0" marR="0" rtl="0" algn="ctr">
              <a:spcBef>
                <a:spcPts val="0"/>
              </a:spcBef>
              <a:buNone/>
              <a:defRPr b="0" i="0" sz="2800" u="none" cap="none" strike="noStrike">
                <a:solidFill>
                  <a:schemeClr val="lt1"/>
                </a:solidFill>
                <a:latin typeface="Century Gothic"/>
                <a:ea typeface="Century Gothic"/>
                <a:cs typeface="Century Gothic"/>
                <a:sym typeface="Century Gothic"/>
              </a:defRPr>
            </a:lvl4pPr>
            <a:lvl5pPr indent="0" lvl="4" marL="0" marR="0" rtl="0" algn="ctr">
              <a:spcBef>
                <a:spcPts val="0"/>
              </a:spcBef>
              <a:buNone/>
              <a:defRPr b="0" i="0" sz="2800" u="none" cap="none" strike="noStrike">
                <a:solidFill>
                  <a:schemeClr val="lt1"/>
                </a:solidFill>
                <a:latin typeface="Century Gothic"/>
                <a:ea typeface="Century Gothic"/>
                <a:cs typeface="Century Gothic"/>
                <a:sym typeface="Century Gothic"/>
              </a:defRPr>
            </a:lvl5pPr>
            <a:lvl6pPr indent="0" lvl="5" marL="0" marR="0" rtl="0" algn="ctr">
              <a:spcBef>
                <a:spcPts val="0"/>
              </a:spcBef>
              <a:buNone/>
              <a:defRPr b="0" i="0" sz="2800" u="none" cap="none" strike="noStrike">
                <a:solidFill>
                  <a:schemeClr val="lt1"/>
                </a:solidFill>
                <a:latin typeface="Century Gothic"/>
                <a:ea typeface="Century Gothic"/>
                <a:cs typeface="Century Gothic"/>
                <a:sym typeface="Century Gothic"/>
              </a:defRPr>
            </a:lvl6pPr>
            <a:lvl7pPr indent="0" lvl="6" marL="0" marR="0" rtl="0" algn="ctr">
              <a:spcBef>
                <a:spcPts val="0"/>
              </a:spcBef>
              <a:buNone/>
              <a:defRPr b="0" i="0" sz="2800" u="none" cap="none" strike="noStrike">
                <a:solidFill>
                  <a:schemeClr val="lt1"/>
                </a:solidFill>
                <a:latin typeface="Century Gothic"/>
                <a:ea typeface="Century Gothic"/>
                <a:cs typeface="Century Gothic"/>
                <a:sym typeface="Century Gothic"/>
              </a:defRPr>
            </a:lvl7pPr>
            <a:lvl8pPr indent="0" lvl="7" marL="0" marR="0" rtl="0" algn="ctr">
              <a:spcBef>
                <a:spcPts val="0"/>
              </a:spcBef>
              <a:buNone/>
              <a:defRPr b="0" i="0" sz="2800" u="none" cap="none" strike="noStrike">
                <a:solidFill>
                  <a:schemeClr val="lt1"/>
                </a:solidFill>
                <a:latin typeface="Century Gothic"/>
                <a:ea typeface="Century Gothic"/>
                <a:cs typeface="Century Gothic"/>
                <a:sym typeface="Century Gothic"/>
              </a:defRPr>
            </a:lvl8pPr>
            <a:lvl9pPr indent="0" lvl="8" marL="0" marR="0" rtl="0" algn="ctr">
              <a:spcBef>
                <a:spcPts val="0"/>
              </a:spcBef>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 id="2147483660" r:id="rId17"/>
    <p:sldLayoutId id="2147483661" r:id="rId18"/>
    <p:sldLayoutId id="2147483662" r:id="rId19"/>
    <p:sldLayoutId id="2147483663" r:id="rId20"/>
    <p:sldLayoutId id="2147483664" r:id="rId21"/>
    <p:sldLayoutId id="2147483665"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43" name="Shape 143"/>
        <p:cNvGrpSpPr/>
        <p:nvPr/>
      </p:nvGrpSpPr>
      <p:grpSpPr>
        <a:xfrm>
          <a:off x="0" y="0"/>
          <a:ext cx="0" cy="0"/>
          <a:chOff x="0" y="0"/>
          <a:chExt cx="0" cy="0"/>
        </a:xfrm>
      </p:grpSpPr>
      <p:pic>
        <p:nvPicPr>
          <p:cNvPr id="144" name="Google Shape;144;p23"/>
          <p:cNvPicPr preferRelativeResize="0"/>
          <p:nvPr/>
        </p:nvPicPr>
        <p:blipFill rotWithShape="1">
          <a:blip r:embed="rId2">
            <a:alphaModFix/>
          </a:blip>
          <a:srcRect b="0" l="3613" r="0" t="0"/>
          <a:stretch/>
        </p:blipFill>
        <p:spPr>
          <a:xfrm>
            <a:off x="0" y="2669685"/>
            <a:ext cx="4037012" cy="4188315"/>
          </a:xfrm>
          <a:prstGeom prst="rect">
            <a:avLst/>
          </a:prstGeom>
          <a:noFill/>
          <a:ln>
            <a:noFill/>
          </a:ln>
        </p:spPr>
      </p:pic>
      <p:pic>
        <p:nvPicPr>
          <p:cNvPr id="145" name="Google Shape;145;p23"/>
          <p:cNvPicPr preferRelativeResize="0"/>
          <p:nvPr/>
        </p:nvPicPr>
        <p:blipFill rotWithShape="1">
          <a:blip r:embed="rId3">
            <a:alphaModFix/>
          </a:blip>
          <a:srcRect b="0" l="35640" r="0" t="0"/>
          <a:stretch/>
        </p:blipFill>
        <p:spPr>
          <a:xfrm>
            <a:off x="0" y="2892347"/>
            <a:ext cx="1522412" cy="2365453"/>
          </a:xfrm>
          <a:prstGeom prst="rect">
            <a:avLst/>
          </a:prstGeom>
          <a:noFill/>
          <a:ln>
            <a:noFill/>
          </a:ln>
        </p:spPr>
      </p:pic>
      <p:sp>
        <p:nvSpPr>
          <p:cNvPr id="146" name="Google Shape;146;p23"/>
          <p:cNvSpPr/>
          <p:nvPr/>
        </p:nvSpPr>
        <p:spPr>
          <a:xfrm>
            <a:off x="8609012" y="1676400"/>
            <a:ext cx="2819400" cy="2819400"/>
          </a:xfrm>
          <a:prstGeom prst="ellipse">
            <a:avLst/>
          </a:prstGeom>
          <a:gradFill>
            <a:gsLst>
              <a:gs pos="0">
                <a:srgbClr val="F3F3F3">
                  <a:alpha val="6666"/>
                </a:srgbClr>
              </a:gs>
              <a:gs pos="36000">
                <a:srgbClr val="F3F3F3">
                  <a:alpha val="5882"/>
                </a:srgbClr>
              </a:gs>
              <a:gs pos="69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7" name="Google Shape;147;p23"/>
          <p:cNvPicPr preferRelativeResize="0"/>
          <p:nvPr/>
        </p:nvPicPr>
        <p:blipFill rotWithShape="1">
          <a:blip r:embed="rId4">
            <a:alphaModFix/>
          </a:blip>
          <a:srcRect b="0" l="0" r="0" t="28812"/>
          <a:stretch/>
        </p:blipFill>
        <p:spPr>
          <a:xfrm>
            <a:off x="7999412" y="0"/>
            <a:ext cx="1603387" cy="1141407"/>
          </a:xfrm>
          <a:prstGeom prst="rect">
            <a:avLst/>
          </a:prstGeom>
          <a:noFill/>
          <a:ln>
            <a:noFill/>
          </a:ln>
        </p:spPr>
      </p:pic>
      <p:pic>
        <p:nvPicPr>
          <p:cNvPr id="148" name="Google Shape;148;p23"/>
          <p:cNvPicPr preferRelativeResize="0"/>
          <p:nvPr/>
        </p:nvPicPr>
        <p:blipFill rotWithShape="1">
          <a:blip r:embed="rId5">
            <a:alphaModFix/>
          </a:blip>
          <a:srcRect b="23320" l="0" r="0" t="0"/>
          <a:stretch/>
        </p:blipFill>
        <p:spPr>
          <a:xfrm>
            <a:off x="8605878" y="6096000"/>
            <a:ext cx="993734" cy="762000"/>
          </a:xfrm>
          <a:prstGeom prst="rect">
            <a:avLst/>
          </a:prstGeom>
          <a:noFill/>
          <a:ln>
            <a:noFill/>
          </a:ln>
        </p:spPr>
      </p:pic>
      <p:sp>
        <p:nvSpPr>
          <p:cNvPr id="149" name="Google Shape;149;p23"/>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4200"/>
              <a:buFont typeface="Century Gothic"/>
              <a:buNone/>
              <a:defRPr b="0" i="0" sz="4200" u="none" cap="none" strike="noStrike">
                <a:solidFill>
                  <a:schemeClr val="dk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51" name="Google Shape;151;p23"/>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rgbClr val="F7F7F7"/>
              </a:buClr>
              <a:buSzPts val="1600"/>
              <a:buFont typeface="Noto Sans Symbols"/>
              <a:buChar char="►"/>
              <a:defRPr b="0" i="0" sz="2000" u="none" cap="none" strike="noStrike">
                <a:solidFill>
                  <a:schemeClr val="dk1"/>
                </a:solidFill>
                <a:latin typeface="Century Gothic"/>
                <a:ea typeface="Century Gothic"/>
                <a:cs typeface="Century Gothic"/>
                <a:sym typeface="Century Gothic"/>
              </a:defRPr>
            </a:lvl1pPr>
            <a:lvl2pPr indent="-320040" lvl="1" marL="914400" marR="0" rtl="0" algn="l">
              <a:spcBef>
                <a:spcPts val="1000"/>
              </a:spcBef>
              <a:spcAft>
                <a:spcPts val="0"/>
              </a:spcAft>
              <a:buClr>
                <a:srgbClr val="F7F7F7"/>
              </a:buClr>
              <a:buSzPts val="1440"/>
              <a:buFont typeface="Noto Sans Symbols"/>
              <a:buChar char="►"/>
              <a:defRPr b="0" i="0" sz="1800" u="none" cap="none" strike="noStrike">
                <a:solidFill>
                  <a:schemeClr val="dk1"/>
                </a:solidFill>
                <a:latin typeface="Century Gothic"/>
                <a:ea typeface="Century Gothic"/>
                <a:cs typeface="Century Gothic"/>
                <a:sym typeface="Century Gothic"/>
              </a:defRPr>
            </a:lvl2pPr>
            <a:lvl3pPr indent="-309880" lvl="2" marL="1371600" marR="0" rtl="0" algn="l">
              <a:spcBef>
                <a:spcPts val="1000"/>
              </a:spcBef>
              <a:spcAft>
                <a:spcPts val="0"/>
              </a:spcAft>
              <a:buClr>
                <a:srgbClr val="F7F7F7"/>
              </a:buClr>
              <a:buSzPts val="1280"/>
              <a:buFont typeface="Noto Sans Symbols"/>
              <a:buChar char="►"/>
              <a:defRPr b="0" i="0" sz="1600" u="none" cap="none" strike="noStrike">
                <a:solidFill>
                  <a:schemeClr val="dk1"/>
                </a:solidFill>
                <a:latin typeface="Century Gothic"/>
                <a:ea typeface="Century Gothic"/>
                <a:cs typeface="Century Gothic"/>
                <a:sym typeface="Century Gothic"/>
              </a:defRPr>
            </a:lvl3pPr>
            <a:lvl4pPr indent="-299719" lvl="3" marL="18288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4pPr>
            <a:lvl5pPr indent="-299720" lvl="4" marL="22860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5pPr>
            <a:lvl6pPr indent="-299720" lvl="5" marL="27432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6pPr>
            <a:lvl7pPr indent="-299720" lvl="6" marL="32004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7pPr>
            <a:lvl8pPr indent="-299720" lvl="7" marL="36576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8pPr>
            <a:lvl9pPr indent="-299720" lvl="8" marL="41148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9pPr>
          </a:lstStyle>
          <a:p/>
        </p:txBody>
      </p:sp>
      <p:sp>
        <p:nvSpPr>
          <p:cNvPr id="152" name="Google Shape;152;p2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100">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53" name="Google Shape;153;p2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100">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54" name="Google Shape;154;p2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0" u="none">
                <a:solidFill>
                  <a:srgbClr val="888888"/>
                </a:solidFill>
                <a:latin typeface="Century Gothic"/>
                <a:ea typeface="Century Gothic"/>
                <a:cs typeface="Century Gothic"/>
                <a:sym typeface="Century Gothic"/>
              </a:defRPr>
            </a:lvl1pPr>
            <a:lvl2pPr indent="0" lvl="1" marL="0" marR="0" rtl="0" algn="ctr">
              <a:spcBef>
                <a:spcPts val="0"/>
              </a:spcBef>
              <a:buNone/>
              <a:defRPr b="0" i="0" sz="2800" u="none">
                <a:solidFill>
                  <a:srgbClr val="888888"/>
                </a:solidFill>
                <a:latin typeface="Century Gothic"/>
                <a:ea typeface="Century Gothic"/>
                <a:cs typeface="Century Gothic"/>
                <a:sym typeface="Century Gothic"/>
              </a:defRPr>
            </a:lvl2pPr>
            <a:lvl3pPr indent="0" lvl="2" marL="0" marR="0" rtl="0" algn="ctr">
              <a:spcBef>
                <a:spcPts val="0"/>
              </a:spcBef>
              <a:buNone/>
              <a:defRPr b="0" i="0" sz="2800" u="none">
                <a:solidFill>
                  <a:srgbClr val="888888"/>
                </a:solidFill>
                <a:latin typeface="Century Gothic"/>
                <a:ea typeface="Century Gothic"/>
                <a:cs typeface="Century Gothic"/>
                <a:sym typeface="Century Gothic"/>
              </a:defRPr>
            </a:lvl3pPr>
            <a:lvl4pPr indent="0" lvl="3" marL="0" marR="0" rtl="0" algn="ctr">
              <a:spcBef>
                <a:spcPts val="0"/>
              </a:spcBef>
              <a:buNone/>
              <a:defRPr b="0" i="0" sz="2800" u="none">
                <a:solidFill>
                  <a:srgbClr val="888888"/>
                </a:solidFill>
                <a:latin typeface="Century Gothic"/>
                <a:ea typeface="Century Gothic"/>
                <a:cs typeface="Century Gothic"/>
                <a:sym typeface="Century Gothic"/>
              </a:defRPr>
            </a:lvl4pPr>
            <a:lvl5pPr indent="0" lvl="4" marL="0" marR="0" rtl="0" algn="ctr">
              <a:spcBef>
                <a:spcPts val="0"/>
              </a:spcBef>
              <a:buNone/>
              <a:defRPr b="0" i="0" sz="2800" u="none">
                <a:solidFill>
                  <a:srgbClr val="888888"/>
                </a:solidFill>
                <a:latin typeface="Century Gothic"/>
                <a:ea typeface="Century Gothic"/>
                <a:cs typeface="Century Gothic"/>
                <a:sym typeface="Century Gothic"/>
              </a:defRPr>
            </a:lvl5pPr>
            <a:lvl6pPr indent="0" lvl="5" marL="0" marR="0" rtl="0" algn="ctr">
              <a:spcBef>
                <a:spcPts val="0"/>
              </a:spcBef>
              <a:buNone/>
              <a:defRPr b="0" i="0" sz="2800" u="none">
                <a:solidFill>
                  <a:srgbClr val="888888"/>
                </a:solidFill>
                <a:latin typeface="Century Gothic"/>
                <a:ea typeface="Century Gothic"/>
                <a:cs typeface="Century Gothic"/>
                <a:sym typeface="Century Gothic"/>
              </a:defRPr>
            </a:lvl6pPr>
            <a:lvl7pPr indent="0" lvl="6" marL="0" marR="0" rtl="0" algn="ctr">
              <a:spcBef>
                <a:spcPts val="0"/>
              </a:spcBef>
              <a:buNone/>
              <a:defRPr b="0" i="0" sz="2800" u="none">
                <a:solidFill>
                  <a:srgbClr val="888888"/>
                </a:solidFill>
                <a:latin typeface="Century Gothic"/>
                <a:ea typeface="Century Gothic"/>
                <a:cs typeface="Century Gothic"/>
                <a:sym typeface="Century Gothic"/>
              </a:defRPr>
            </a:lvl7pPr>
            <a:lvl8pPr indent="0" lvl="7" marL="0" marR="0" rtl="0" algn="ctr">
              <a:spcBef>
                <a:spcPts val="0"/>
              </a:spcBef>
              <a:buNone/>
              <a:defRPr b="0" i="0" sz="2800" u="none">
                <a:solidFill>
                  <a:srgbClr val="888888"/>
                </a:solidFill>
                <a:latin typeface="Century Gothic"/>
                <a:ea typeface="Century Gothic"/>
                <a:cs typeface="Century Gothic"/>
                <a:sym typeface="Century Gothic"/>
              </a:defRPr>
            </a:lvl8pPr>
            <a:lvl9pPr indent="0" lvl="8" marL="0" marR="0" rtl="0" algn="ctr">
              <a:spcBef>
                <a:spcPts val="0"/>
              </a:spcBef>
              <a:buNone/>
              <a:defRPr b="0" i="0" sz="2800" u="non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5.jpg"/><Relationship Id="rId5"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2.jpg"/><Relationship Id="rId5" Type="http://schemas.openxmlformats.org/officeDocument/2006/relationships/image" Target="../media/image4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png"/><Relationship Id="rId9" Type="http://schemas.openxmlformats.org/officeDocument/2006/relationships/image" Target="../media/image20.jp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3.png"/><Relationship Id="rId8" Type="http://schemas.openxmlformats.org/officeDocument/2006/relationships/image" Target="../media/image4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png"/><Relationship Id="rId9" Type="http://schemas.openxmlformats.org/officeDocument/2006/relationships/image" Target="../media/image17.jp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3.png"/><Relationship Id="rId8"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png"/><Relationship Id="rId9" Type="http://schemas.openxmlformats.org/officeDocument/2006/relationships/image" Target="../media/image18.jp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3.png"/><Relationship Id="rId8" Type="http://schemas.openxmlformats.org/officeDocument/2006/relationships/image" Target="../media/image1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png"/><Relationship Id="rId9" Type="http://schemas.openxmlformats.org/officeDocument/2006/relationships/image" Target="../media/image21.jp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3.png"/><Relationship Id="rId8" Type="http://schemas.openxmlformats.org/officeDocument/2006/relationships/image" Target="../media/image3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png"/><Relationship Id="rId9" Type="http://schemas.openxmlformats.org/officeDocument/2006/relationships/image" Target="../media/image26.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3.png"/><Relationship Id="rId8" Type="http://schemas.openxmlformats.org/officeDocument/2006/relationships/image" Target="../media/image3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31.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34.png"/><Relationship Id="rId5"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colab.google/" TargetMode="External"/><Relationship Id="rId4" Type="http://schemas.openxmlformats.org/officeDocument/2006/relationships/hyperlink" Target="https://www.tensorflow.org/" TargetMode="External"/><Relationship Id="rId5" Type="http://schemas.openxmlformats.org/officeDocument/2006/relationships/hyperlink" Target="https://keras.io/" TargetMode="External"/><Relationship Id="rId6" Type="http://schemas.openxmlformats.org/officeDocument/2006/relationships/image" Target="../media/image37.png"/><Relationship Id="rId7" Type="http://schemas.openxmlformats.org/officeDocument/2006/relationships/image" Target="../media/image35.png"/><Relationship Id="rId8"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4.png"/><Relationship Id="rId4" Type="http://schemas.openxmlformats.org/officeDocument/2006/relationships/image" Target="../media/image4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
          <p:cNvSpPr txBox="1"/>
          <p:nvPr>
            <p:ph type="ctrTitle"/>
          </p:nvPr>
        </p:nvSpPr>
        <p:spPr>
          <a:xfrm>
            <a:off x="844237" y="2176280"/>
            <a:ext cx="6601592" cy="3329581"/>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lt1"/>
              </a:buClr>
              <a:buSzPct val="100000"/>
              <a:buFont typeface="Times New Roman"/>
              <a:buNone/>
            </a:pPr>
            <a:r>
              <a:rPr b="1" i="0" lang="en-US" sz="3600" u="none" strike="noStrike">
                <a:solidFill>
                  <a:schemeClr val="lt1"/>
                </a:solidFill>
                <a:latin typeface="Times New Roman"/>
                <a:ea typeface="Times New Roman"/>
                <a:cs typeface="Times New Roman"/>
                <a:sym typeface="Times New Roman"/>
              </a:rPr>
              <a:t>EE 470 </a:t>
            </a:r>
            <a:br>
              <a:rPr lang="en-US" sz="3600">
                <a:solidFill>
                  <a:schemeClr val="lt1"/>
                </a:solidFill>
                <a:latin typeface="Times New Roman"/>
                <a:ea typeface="Times New Roman"/>
                <a:cs typeface="Times New Roman"/>
                <a:sym typeface="Times New Roman"/>
              </a:rPr>
            </a:br>
            <a:r>
              <a:rPr b="1" i="0" lang="en-US" sz="3600" u="none" strike="noStrike">
                <a:solidFill>
                  <a:schemeClr val="lt1"/>
                </a:solidFill>
                <a:latin typeface="Times New Roman"/>
                <a:ea typeface="Times New Roman"/>
                <a:cs typeface="Times New Roman"/>
                <a:sym typeface="Times New Roman"/>
              </a:rPr>
              <a:t>DEEP LEARNING FOR COMPUTER VISION</a:t>
            </a:r>
            <a:br>
              <a:rPr lang="en-US" sz="3600">
                <a:solidFill>
                  <a:schemeClr val="lt1"/>
                </a:solidFill>
                <a:latin typeface="Times New Roman"/>
                <a:ea typeface="Times New Roman"/>
                <a:cs typeface="Times New Roman"/>
                <a:sym typeface="Times New Roman"/>
              </a:rPr>
            </a:br>
            <a:r>
              <a:rPr b="1" i="0" lang="en-US" sz="3600" u="none" strike="noStrike">
                <a:solidFill>
                  <a:schemeClr val="lt1"/>
                </a:solidFill>
                <a:latin typeface="Times New Roman"/>
                <a:ea typeface="Times New Roman"/>
                <a:cs typeface="Times New Roman"/>
                <a:sym typeface="Times New Roman"/>
              </a:rPr>
              <a:t>COURSE PROJECT: PLANT DISEASE CLASSIFICATION </a:t>
            </a:r>
            <a:r>
              <a:rPr b="1" lang="en-US" sz="3600">
                <a:solidFill>
                  <a:schemeClr val="lt1"/>
                </a:solidFill>
                <a:latin typeface="Times New Roman"/>
                <a:ea typeface="Times New Roman"/>
                <a:cs typeface="Times New Roman"/>
                <a:sym typeface="Times New Roman"/>
              </a:rPr>
              <a:t>CHALLENGE</a:t>
            </a:r>
            <a:br>
              <a:rPr b="1" i="0" lang="en-US" sz="3600" u="none" strike="noStrike">
                <a:solidFill>
                  <a:schemeClr val="lt1"/>
                </a:solidFill>
                <a:latin typeface="Times New Roman"/>
                <a:ea typeface="Times New Roman"/>
                <a:cs typeface="Times New Roman"/>
                <a:sym typeface="Times New Roman"/>
              </a:rPr>
            </a:br>
            <a:br>
              <a:rPr lang="en-US" sz="3600">
                <a:solidFill>
                  <a:schemeClr val="lt1"/>
                </a:solidFill>
                <a:latin typeface="Times New Roman"/>
                <a:ea typeface="Times New Roman"/>
                <a:cs typeface="Times New Roman"/>
                <a:sym typeface="Times New Roman"/>
              </a:rPr>
            </a:br>
            <a:r>
              <a:rPr lang="en-US" sz="3600">
                <a:solidFill>
                  <a:schemeClr val="lt1"/>
                </a:solidFill>
                <a:latin typeface="Times New Roman"/>
                <a:ea typeface="Times New Roman"/>
                <a:cs typeface="Times New Roman"/>
                <a:sym typeface="Times New Roman"/>
              </a:rPr>
              <a:t>Group 12</a:t>
            </a:r>
            <a:br>
              <a:rPr b="1" lang="en-US" sz="3600">
                <a:solidFill>
                  <a:schemeClr val="lt1"/>
                </a:solidFill>
                <a:latin typeface="Times New Roman"/>
                <a:ea typeface="Times New Roman"/>
                <a:cs typeface="Times New Roman"/>
                <a:sym typeface="Times New Roman"/>
              </a:rPr>
            </a:br>
            <a:br>
              <a:rPr lang="en-US" sz="800">
                <a:latin typeface="Times New Roman"/>
                <a:ea typeface="Times New Roman"/>
                <a:cs typeface="Times New Roman"/>
                <a:sym typeface="Times New Roman"/>
              </a:rPr>
            </a:br>
            <a:br>
              <a:rPr lang="en-US" sz="800">
                <a:latin typeface="Times New Roman"/>
                <a:ea typeface="Times New Roman"/>
                <a:cs typeface="Times New Roman"/>
                <a:sym typeface="Times New Roman"/>
              </a:rPr>
            </a:br>
            <a:br>
              <a:rPr b="1" lang="en-US" sz="900">
                <a:latin typeface="Times New Roman"/>
                <a:ea typeface="Times New Roman"/>
                <a:cs typeface="Times New Roman"/>
                <a:sym typeface="Times New Roman"/>
              </a:rPr>
            </a:br>
            <a:r>
              <a:rPr b="1" lang="en-US" sz="900">
                <a:latin typeface="Times New Roman"/>
                <a:ea typeface="Times New Roman"/>
                <a:cs typeface="Times New Roman"/>
                <a:sym typeface="Times New Roman"/>
              </a:rPr>
              <a:t> </a:t>
            </a:r>
            <a:br>
              <a:rPr b="1" lang="en-US" sz="900">
                <a:latin typeface="Times New Roman"/>
                <a:ea typeface="Times New Roman"/>
                <a:cs typeface="Times New Roman"/>
                <a:sym typeface="Times New Roman"/>
              </a:rPr>
            </a:br>
            <a:endParaRPr sz="3600">
              <a:latin typeface="Times New Roman"/>
              <a:ea typeface="Times New Roman"/>
              <a:cs typeface="Times New Roman"/>
              <a:sym typeface="Times New Roman"/>
            </a:endParaRPr>
          </a:p>
        </p:txBody>
      </p:sp>
      <p:sp>
        <p:nvSpPr>
          <p:cNvPr id="166" name="Google Shape;166;p1"/>
          <p:cNvSpPr txBox="1"/>
          <p:nvPr>
            <p:ph idx="1" type="subTitle"/>
          </p:nvPr>
        </p:nvSpPr>
        <p:spPr>
          <a:xfrm>
            <a:off x="1154954" y="4777379"/>
            <a:ext cx="9498249" cy="1392601"/>
          </a:xfrm>
          <a:prstGeom prst="rect">
            <a:avLst/>
          </a:prstGeom>
          <a:noFill/>
          <a:ln>
            <a:noFill/>
          </a:ln>
        </p:spPr>
        <p:txBody>
          <a:bodyPr anchorCtr="0" anchor="t" bIns="45700" lIns="91425" spcFirstLastPara="1" rIns="91425" wrap="square" tIns="45700">
            <a:normAutofit fontScale="62500" lnSpcReduction="20000"/>
          </a:bodyPr>
          <a:lstStyle/>
          <a:p>
            <a:pPr indent="0" lvl="0" marL="0" rtl="0" algn="ctr">
              <a:spcBef>
                <a:spcPts val="0"/>
              </a:spcBef>
              <a:spcAft>
                <a:spcPts val="0"/>
              </a:spcAft>
              <a:buSzPct val="80000"/>
              <a:buNone/>
            </a:pPr>
            <a:r>
              <a:rPr b="0" i="0" lang="en-US" sz="3800" u="none" strike="noStrike">
                <a:solidFill>
                  <a:schemeClr val="lt1"/>
                </a:solidFill>
                <a:latin typeface="Times New Roman"/>
                <a:ea typeface="Times New Roman"/>
                <a:cs typeface="Times New Roman"/>
                <a:sym typeface="Times New Roman"/>
              </a:rPr>
              <a:t>ALI BAKI TURKOZ </a:t>
            </a:r>
            <a:endParaRPr/>
          </a:p>
          <a:p>
            <a:pPr indent="0" lvl="0" marL="0" rtl="0" algn="ctr">
              <a:spcBef>
                <a:spcPts val="0"/>
              </a:spcBef>
              <a:spcAft>
                <a:spcPts val="0"/>
              </a:spcAft>
              <a:buSzPct val="80000"/>
              <a:buNone/>
            </a:pPr>
            <a:r>
              <a:rPr b="0" i="0" lang="en-US" sz="3800" u="none" strike="noStrike">
                <a:solidFill>
                  <a:schemeClr val="lt1"/>
                </a:solidFill>
                <a:latin typeface="Times New Roman"/>
                <a:ea typeface="Times New Roman"/>
                <a:cs typeface="Times New Roman"/>
                <a:sym typeface="Times New Roman"/>
              </a:rPr>
              <a:t>20190701070</a:t>
            </a:r>
            <a:endParaRPr sz="3800">
              <a:solidFill>
                <a:schemeClr val="lt1"/>
              </a:solidFill>
              <a:latin typeface="Times New Roman"/>
              <a:ea typeface="Times New Roman"/>
              <a:cs typeface="Times New Roman"/>
              <a:sym typeface="Times New Roman"/>
            </a:endParaRPr>
          </a:p>
          <a:p>
            <a:pPr indent="0" lvl="0" marL="0" rtl="0" algn="ctr">
              <a:spcBef>
                <a:spcPts val="0"/>
              </a:spcBef>
              <a:spcAft>
                <a:spcPts val="0"/>
              </a:spcAft>
              <a:buSzPct val="80000"/>
              <a:buNone/>
            </a:pPr>
            <a:r>
              <a:rPr b="0" i="0" lang="en-US" sz="3800" u="none" strike="noStrike">
                <a:solidFill>
                  <a:schemeClr val="lt1"/>
                </a:solidFill>
                <a:latin typeface="Times New Roman"/>
                <a:ea typeface="Times New Roman"/>
                <a:cs typeface="Times New Roman"/>
                <a:sym typeface="Times New Roman"/>
              </a:rPr>
              <a:t>EMRE OZTURK</a:t>
            </a:r>
            <a:endParaRPr/>
          </a:p>
          <a:p>
            <a:pPr indent="0" lvl="0" marL="0" rtl="0" algn="ctr">
              <a:spcBef>
                <a:spcPts val="0"/>
              </a:spcBef>
              <a:spcAft>
                <a:spcPts val="0"/>
              </a:spcAft>
              <a:buSzPct val="80000"/>
              <a:buNone/>
            </a:pPr>
            <a:r>
              <a:rPr b="0" i="0" lang="en-US" sz="3800" u="none" strike="noStrike">
                <a:solidFill>
                  <a:schemeClr val="lt1"/>
                </a:solidFill>
                <a:latin typeface="Times New Roman"/>
                <a:ea typeface="Times New Roman"/>
                <a:cs typeface="Times New Roman"/>
                <a:sym typeface="Times New Roman"/>
              </a:rPr>
              <a:t> 20190701087</a:t>
            </a:r>
            <a:endParaRPr sz="3800">
              <a:solidFill>
                <a:schemeClr val="lt1"/>
              </a:solidFill>
              <a:latin typeface="Times New Roman"/>
              <a:ea typeface="Times New Roman"/>
              <a:cs typeface="Times New Roman"/>
              <a:sym typeface="Times New Roman"/>
            </a:endParaRPr>
          </a:p>
          <a:p>
            <a:pPr indent="0" lvl="0" marL="0" rtl="0" algn="l">
              <a:spcBef>
                <a:spcPts val="1000"/>
              </a:spcBef>
              <a:spcAft>
                <a:spcPts val="0"/>
              </a:spcAft>
              <a:buSzPct val="80000"/>
              <a:buNone/>
            </a:pPr>
            <a:r>
              <a:t/>
            </a:r>
            <a:endParaRPr>
              <a:latin typeface="Times New Roman"/>
              <a:ea typeface="Times New Roman"/>
              <a:cs typeface="Times New Roman"/>
              <a:sym typeface="Times New Roman"/>
            </a:endParaRPr>
          </a:p>
        </p:txBody>
      </p:sp>
      <p:pic>
        <p:nvPicPr>
          <p:cNvPr id="167" name="Google Shape;167;p1"/>
          <p:cNvPicPr preferRelativeResize="0"/>
          <p:nvPr/>
        </p:nvPicPr>
        <p:blipFill rotWithShape="1">
          <a:blip r:embed="rId3">
            <a:alphaModFix/>
          </a:blip>
          <a:srcRect b="0" l="0" r="0" t="0"/>
          <a:stretch/>
        </p:blipFill>
        <p:spPr>
          <a:xfrm>
            <a:off x="7156377" y="1578226"/>
            <a:ext cx="4210675" cy="2817775"/>
          </a:xfrm>
          <a:prstGeom prst="rect">
            <a:avLst/>
          </a:prstGeom>
          <a:noFill/>
          <a:ln cap="sq" cmpd="sng" w="190500">
            <a:solidFill>
              <a:srgbClr val="C8C6BD"/>
            </a:solidFill>
            <a:prstDash val="solid"/>
            <a:miter lim="800000"/>
            <a:headEnd len="sm" w="sm" type="none"/>
            <a:tailEnd len="sm" w="sm" type="none"/>
          </a:ln>
          <a:effectLst>
            <a:outerShdw blurRad="254000" rotWithShape="0" algn="bl">
              <a:srgbClr val="000000">
                <a:alpha val="42745"/>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1" name="Shape 171"/>
        <p:cNvGrpSpPr/>
        <p:nvPr/>
      </p:nvGrpSpPr>
      <p:grpSpPr>
        <a:xfrm>
          <a:off x="0" y="0"/>
          <a:ext cx="0" cy="0"/>
          <a:chOff x="0" y="0"/>
          <a:chExt cx="0" cy="0"/>
        </a:xfrm>
      </p:grpSpPr>
      <p:sp>
        <p:nvSpPr>
          <p:cNvPr id="172" name="Google Shape;172;p2"/>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173" name="Google Shape;173;p2"/>
          <p:cNvSpPr txBox="1"/>
          <p:nvPr>
            <p:ph type="title"/>
          </p:nvPr>
        </p:nvSpPr>
        <p:spPr>
          <a:xfrm>
            <a:off x="648930" y="629266"/>
            <a:ext cx="6188190" cy="162232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EBEBEB"/>
              </a:buClr>
              <a:buSzPts val="4200"/>
              <a:buFont typeface="Times New Roman"/>
              <a:buNone/>
            </a:pPr>
            <a:r>
              <a:rPr lang="en-US">
                <a:solidFill>
                  <a:srgbClr val="EBEBEB"/>
                </a:solidFill>
                <a:latin typeface="Times New Roman"/>
                <a:ea typeface="Times New Roman"/>
                <a:cs typeface="Times New Roman"/>
                <a:sym typeface="Times New Roman"/>
              </a:rPr>
              <a:t>INTRODUCTION</a:t>
            </a:r>
            <a:endParaRPr/>
          </a:p>
        </p:txBody>
      </p:sp>
      <p:sp>
        <p:nvSpPr>
          <p:cNvPr id="174" name="Google Shape;174;p2"/>
          <p:cNvSpPr txBox="1"/>
          <p:nvPr>
            <p:ph idx="1" type="body"/>
          </p:nvPr>
        </p:nvSpPr>
        <p:spPr>
          <a:xfrm>
            <a:off x="505025" y="2438400"/>
            <a:ext cx="6332400" cy="3837000"/>
          </a:xfrm>
          <a:prstGeom prst="rect">
            <a:avLst/>
          </a:prstGeom>
          <a:noFill/>
          <a:ln>
            <a:noFill/>
          </a:ln>
        </p:spPr>
        <p:txBody>
          <a:bodyPr anchorCtr="0" anchor="t" bIns="45700" lIns="91425" spcFirstLastPara="1" rIns="91425" wrap="square" tIns="45700">
            <a:normAutofit/>
          </a:bodyPr>
          <a:lstStyle/>
          <a:p>
            <a:pPr indent="-342900" lvl="0" marL="342900" rtl="0" algn="l">
              <a:spcBef>
                <a:spcPts val="1000"/>
              </a:spcBef>
              <a:spcAft>
                <a:spcPts val="0"/>
              </a:spcAft>
              <a:buSzPts val="1600"/>
              <a:buChar char="►"/>
            </a:pPr>
            <a:r>
              <a:rPr lang="en-US">
                <a:solidFill>
                  <a:srgbClr val="FFFFFF"/>
                </a:solidFill>
                <a:latin typeface="Times New Roman"/>
                <a:ea typeface="Times New Roman"/>
                <a:cs typeface="Times New Roman"/>
                <a:sym typeface="Times New Roman"/>
              </a:rPr>
              <a:t>Cassava is an important food source in tropical regions and holds significant </a:t>
            </a:r>
            <a:r>
              <a:rPr b="1" lang="en-US">
                <a:solidFill>
                  <a:srgbClr val="FFFFFF"/>
                </a:solidFill>
                <a:latin typeface="Times New Roman"/>
                <a:ea typeface="Times New Roman"/>
                <a:cs typeface="Times New Roman"/>
                <a:sym typeface="Times New Roman"/>
              </a:rPr>
              <a:t>economic value</a:t>
            </a:r>
            <a:r>
              <a:rPr lang="en-US">
                <a:solidFill>
                  <a:srgbClr val="FFFFFF"/>
                </a:solidFill>
                <a:latin typeface="Times New Roman"/>
                <a:ea typeface="Times New Roman"/>
                <a:cs typeface="Times New Roman"/>
                <a:sym typeface="Times New Roman"/>
              </a:rPr>
              <a:t>. However, various </a:t>
            </a:r>
            <a:r>
              <a:rPr b="1" lang="en-US">
                <a:solidFill>
                  <a:srgbClr val="FFFFFF"/>
                </a:solidFill>
                <a:latin typeface="Times New Roman"/>
                <a:ea typeface="Times New Roman"/>
                <a:cs typeface="Times New Roman"/>
                <a:sym typeface="Times New Roman"/>
              </a:rPr>
              <a:t>diseases affecting</a:t>
            </a:r>
            <a:r>
              <a:rPr lang="en-US">
                <a:solidFill>
                  <a:srgbClr val="FFFFFF"/>
                </a:solidFill>
                <a:latin typeface="Times New Roman"/>
                <a:ea typeface="Times New Roman"/>
                <a:cs typeface="Times New Roman"/>
                <a:sym typeface="Times New Roman"/>
              </a:rPr>
              <a:t> the cassava plant and the </a:t>
            </a:r>
            <a:r>
              <a:rPr b="1" lang="en-US">
                <a:solidFill>
                  <a:srgbClr val="FFFFFF"/>
                </a:solidFill>
                <a:latin typeface="Times New Roman"/>
                <a:ea typeface="Times New Roman"/>
                <a:cs typeface="Times New Roman"/>
                <a:sym typeface="Times New Roman"/>
              </a:rPr>
              <a:t>difficulty in detecting</a:t>
            </a:r>
            <a:r>
              <a:rPr lang="en-US">
                <a:solidFill>
                  <a:srgbClr val="FFFFFF"/>
                </a:solidFill>
                <a:latin typeface="Times New Roman"/>
                <a:ea typeface="Times New Roman"/>
                <a:cs typeface="Times New Roman"/>
                <a:sym typeface="Times New Roman"/>
              </a:rPr>
              <a:t> them seriously </a:t>
            </a:r>
            <a:r>
              <a:rPr b="1" lang="en-US">
                <a:solidFill>
                  <a:srgbClr val="FFFFFF"/>
                </a:solidFill>
                <a:latin typeface="Times New Roman"/>
                <a:ea typeface="Times New Roman"/>
                <a:cs typeface="Times New Roman"/>
                <a:sym typeface="Times New Roman"/>
              </a:rPr>
              <a:t>reduce </a:t>
            </a:r>
            <a:r>
              <a:rPr lang="en-US">
                <a:solidFill>
                  <a:srgbClr val="FFFFFF"/>
                </a:solidFill>
                <a:latin typeface="Times New Roman"/>
                <a:ea typeface="Times New Roman"/>
                <a:cs typeface="Times New Roman"/>
                <a:sym typeface="Times New Roman"/>
              </a:rPr>
              <a:t>its </a:t>
            </a:r>
            <a:r>
              <a:rPr b="1" lang="en-US">
                <a:solidFill>
                  <a:srgbClr val="FFFFFF"/>
                </a:solidFill>
                <a:latin typeface="Times New Roman"/>
                <a:ea typeface="Times New Roman"/>
                <a:cs typeface="Times New Roman"/>
                <a:sym typeface="Times New Roman"/>
              </a:rPr>
              <a:t>productivity</a:t>
            </a:r>
            <a:r>
              <a:rPr lang="en-US">
                <a:solidFill>
                  <a:srgbClr val="FFFFFF"/>
                </a:solidFill>
                <a:latin typeface="Times New Roman"/>
                <a:ea typeface="Times New Roman"/>
                <a:cs typeface="Times New Roman"/>
                <a:sym typeface="Times New Roman"/>
              </a:rPr>
              <a:t>.</a:t>
            </a:r>
            <a:endParaRPr>
              <a:solidFill>
                <a:srgbClr val="FFFFFF"/>
              </a:solidFill>
              <a:latin typeface="Times New Roman"/>
              <a:ea typeface="Times New Roman"/>
              <a:cs typeface="Times New Roman"/>
              <a:sym typeface="Times New Roman"/>
            </a:endParaRPr>
          </a:p>
          <a:p>
            <a:pPr indent="-342900" lvl="0" marL="342900" rtl="0" algn="l">
              <a:spcBef>
                <a:spcPts val="1000"/>
              </a:spcBef>
              <a:spcAft>
                <a:spcPts val="0"/>
              </a:spcAft>
              <a:buSzPts val="1600"/>
              <a:buChar char="►"/>
            </a:pPr>
            <a:r>
              <a:rPr lang="en-US">
                <a:solidFill>
                  <a:srgbClr val="FFFFFF"/>
                </a:solidFill>
                <a:latin typeface="Times New Roman"/>
                <a:ea typeface="Times New Roman"/>
                <a:cs typeface="Times New Roman"/>
                <a:sym typeface="Times New Roman"/>
              </a:rPr>
              <a:t> In this project, </a:t>
            </a:r>
            <a:r>
              <a:rPr b="1" lang="en-US">
                <a:solidFill>
                  <a:srgbClr val="FFFFFF"/>
                </a:solidFill>
                <a:latin typeface="Times New Roman"/>
                <a:ea typeface="Times New Roman"/>
                <a:cs typeface="Times New Roman"/>
                <a:sym typeface="Times New Roman"/>
              </a:rPr>
              <a:t>our aim</a:t>
            </a:r>
            <a:r>
              <a:rPr lang="en-US">
                <a:solidFill>
                  <a:srgbClr val="FFFFFF"/>
                </a:solidFill>
                <a:latin typeface="Times New Roman"/>
                <a:ea typeface="Times New Roman"/>
                <a:cs typeface="Times New Roman"/>
                <a:sym typeface="Times New Roman"/>
              </a:rPr>
              <a:t> was to develop an artificial intelligence </a:t>
            </a:r>
            <a:r>
              <a:rPr b="1" lang="en-US">
                <a:solidFill>
                  <a:srgbClr val="FFFFFF"/>
                </a:solidFill>
                <a:latin typeface="Times New Roman"/>
                <a:ea typeface="Times New Roman"/>
                <a:cs typeface="Times New Roman"/>
                <a:sym typeface="Times New Roman"/>
              </a:rPr>
              <a:t>model </a:t>
            </a:r>
            <a:r>
              <a:rPr lang="en-US">
                <a:solidFill>
                  <a:srgbClr val="FFFFFF"/>
                </a:solidFill>
                <a:latin typeface="Times New Roman"/>
                <a:ea typeface="Times New Roman"/>
                <a:cs typeface="Times New Roman"/>
                <a:sym typeface="Times New Roman"/>
              </a:rPr>
              <a:t>to early diagnose and </a:t>
            </a:r>
            <a:r>
              <a:rPr b="1" lang="en-US">
                <a:solidFill>
                  <a:srgbClr val="FFFFFF"/>
                </a:solidFill>
                <a:latin typeface="Times New Roman"/>
                <a:ea typeface="Times New Roman"/>
                <a:cs typeface="Times New Roman"/>
                <a:sym typeface="Times New Roman"/>
              </a:rPr>
              <a:t>classify </a:t>
            </a:r>
            <a:r>
              <a:rPr lang="en-US">
                <a:solidFill>
                  <a:srgbClr val="FFFFFF"/>
                </a:solidFill>
                <a:latin typeface="Times New Roman"/>
                <a:ea typeface="Times New Roman"/>
                <a:cs typeface="Times New Roman"/>
                <a:sym typeface="Times New Roman"/>
              </a:rPr>
              <a:t>cassava leaf diseases.</a:t>
            </a:r>
            <a:endParaRPr/>
          </a:p>
        </p:txBody>
      </p:sp>
      <p:sp>
        <p:nvSpPr>
          <p:cNvPr id="175" name="Google Shape;175;p2"/>
          <p:cNvSpPr/>
          <p:nvPr/>
        </p:nvSpPr>
        <p:spPr>
          <a:xfrm>
            <a:off x="7015974" y="-1"/>
            <a:ext cx="559472" cy="3709642"/>
          </a:xfrm>
          <a:custGeom>
            <a:rect b="b" l="l" r="r" t="t"/>
            <a:pathLst>
              <a:path extrusionOk="0" h="3709642" w="55947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pic>
        <p:nvPicPr>
          <p:cNvPr descr="Cassava | Veggycation" id="176" name="Google Shape;176;p2"/>
          <p:cNvPicPr preferRelativeResize="0"/>
          <p:nvPr/>
        </p:nvPicPr>
        <p:blipFill rotWithShape="1">
          <a:blip r:embed="rId4">
            <a:alphaModFix/>
          </a:blip>
          <a:srcRect b="13971" l="0" r="-1" t="16924"/>
          <a:stretch/>
        </p:blipFill>
        <p:spPr>
          <a:xfrm>
            <a:off x="7230352" y="2"/>
            <a:ext cx="4962068" cy="3428999"/>
          </a:xfrm>
          <a:custGeom>
            <a:rect b="b" l="l" r="r" t="t"/>
            <a:pathLst>
              <a:path extrusionOk="0" h="3428999" w="4962068">
                <a:moveTo>
                  <a:pt x="0" y="0"/>
                </a:moveTo>
                <a:lnTo>
                  <a:pt x="1343538" y="0"/>
                </a:lnTo>
                <a:lnTo>
                  <a:pt x="1343538" y="1"/>
                </a:lnTo>
                <a:lnTo>
                  <a:pt x="4962068" y="1"/>
                </a:lnTo>
                <a:lnTo>
                  <a:pt x="4962067" y="3428999"/>
                </a:lnTo>
                <a:lnTo>
                  <a:pt x="250957" y="3428999"/>
                </a:lnTo>
                <a:lnTo>
                  <a:pt x="250957" y="3343961"/>
                </a:lnTo>
                <a:lnTo>
                  <a:pt x="251965" y="3201315"/>
                </a:lnTo>
                <a:lnTo>
                  <a:pt x="250957" y="3057297"/>
                </a:lnTo>
                <a:lnTo>
                  <a:pt x="248940" y="2911221"/>
                </a:lnTo>
                <a:lnTo>
                  <a:pt x="247091" y="2765146"/>
                </a:lnTo>
                <a:lnTo>
                  <a:pt x="243057" y="2617013"/>
                </a:lnTo>
                <a:lnTo>
                  <a:pt x="238855" y="2467509"/>
                </a:lnTo>
                <a:lnTo>
                  <a:pt x="233980" y="2318004"/>
                </a:lnTo>
                <a:lnTo>
                  <a:pt x="227089" y="2167128"/>
                </a:lnTo>
                <a:lnTo>
                  <a:pt x="218852" y="2014881"/>
                </a:lnTo>
                <a:lnTo>
                  <a:pt x="210952" y="1861947"/>
                </a:lnTo>
                <a:lnTo>
                  <a:pt x="200867" y="1709014"/>
                </a:lnTo>
                <a:lnTo>
                  <a:pt x="188764" y="1554023"/>
                </a:lnTo>
                <a:lnTo>
                  <a:pt x="176662" y="1401090"/>
                </a:lnTo>
                <a:lnTo>
                  <a:pt x="162710" y="1245413"/>
                </a:lnTo>
                <a:lnTo>
                  <a:pt x="147414" y="1089051"/>
                </a:lnTo>
                <a:lnTo>
                  <a:pt x="131278" y="934746"/>
                </a:lnTo>
                <a:lnTo>
                  <a:pt x="112452" y="778383"/>
                </a:lnTo>
                <a:lnTo>
                  <a:pt x="92281" y="622707"/>
                </a:lnTo>
                <a:lnTo>
                  <a:pt x="72278" y="466344"/>
                </a:lnTo>
                <a:lnTo>
                  <a:pt x="48914" y="310668"/>
                </a:lnTo>
                <a:lnTo>
                  <a:pt x="25045" y="155677"/>
                </a:lnTo>
                <a:close/>
              </a:path>
            </a:pathLst>
          </a:custGeom>
          <a:noFill/>
          <a:ln>
            <a:noFill/>
          </a:ln>
        </p:spPr>
      </p:pic>
      <p:pic>
        <p:nvPicPr>
          <p:cNvPr descr="7 Benefits Of Cassava Leaves For A Healthy Lifestyle | How To Cure" id="177" name="Google Shape;177;p2"/>
          <p:cNvPicPr preferRelativeResize="0"/>
          <p:nvPr/>
        </p:nvPicPr>
        <p:blipFill rotWithShape="1">
          <a:blip r:embed="rId5">
            <a:alphaModFix/>
          </a:blip>
          <a:srcRect b="2" l="0" r="3386" t="0"/>
          <a:stretch/>
        </p:blipFill>
        <p:spPr>
          <a:xfrm>
            <a:off x="7228756" y="3428997"/>
            <a:ext cx="4963244" cy="3429002"/>
          </a:xfrm>
          <a:custGeom>
            <a:rect b="b" l="l" r="r" t="t"/>
            <a:pathLst>
              <a:path extrusionOk="0" h="3429002" w="4963244">
                <a:moveTo>
                  <a:pt x="252134" y="0"/>
                </a:moveTo>
                <a:lnTo>
                  <a:pt x="4963244" y="0"/>
                </a:lnTo>
                <a:lnTo>
                  <a:pt x="4963244" y="3429002"/>
                </a:lnTo>
                <a:lnTo>
                  <a:pt x="900697" y="3429002"/>
                </a:lnTo>
                <a:lnTo>
                  <a:pt x="900697" y="3429001"/>
                </a:lnTo>
                <a:lnTo>
                  <a:pt x="0" y="3429001"/>
                </a:lnTo>
                <a:lnTo>
                  <a:pt x="5883" y="3388539"/>
                </a:lnTo>
                <a:lnTo>
                  <a:pt x="23196" y="3269895"/>
                </a:lnTo>
                <a:lnTo>
                  <a:pt x="35299" y="3183484"/>
                </a:lnTo>
                <a:lnTo>
                  <a:pt x="48073" y="3080614"/>
                </a:lnTo>
                <a:lnTo>
                  <a:pt x="63369" y="2958542"/>
                </a:lnTo>
                <a:lnTo>
                  <a:pt x="79506" y="2823439"/>
                </a:lnTo>
                <a:lnTo>
                  <a:pt x="96483" y="2671192"/>
                </a:lnTo>
                <a:lnTo>
                  <a:pt x="114469" y="2505228"/>
                </a:lnTo>
                <a:lnTo>
                  <a:pt x="132454" y="2324863"/>
                </a:lnTo>
                <a:lnTo>
                  <a:pt x="150776" y="2132839"/>
                </a:lnTo>
                <a:lnTo>
                  <a:pt x="167753" y="1925727"/>
                </a:lnTo>
                <a:lnTo>
                  <a:pt x="184058" y="1709014"/>
                </a:lnTo>
                <a:lnTo>
                  <a:pt x="198849" y="1479957"/>
                </a:lnTo>
                <a:lnTo>
                  <a:pt x="212969" y="1241299"/>
                </a:lnTo>
                <a:lnTo>
                  <a:pt x="226248" y="992353"/>
                </a:lnTo>
                <a:lnTo>
                  <a:pt x="230955" y="864794"/>
                </a:lnTo>
                <a:lnTo>
                  <a:pt x="236165" y="734493"/>
                </a:lnTo>
                <a:lnTo>
                  <a:pt x="241040" y="602134"/>
                </a:lnTo>
                <a:lnTo>
                  <a:pt x="244234" y="469088"/>
                </a:lnTo>
                <a:lnTo>
                  <a:pt x="247091" y="333300"/>
                </a:lnTo>
                <a:lnTo>
                  <a:pt x="250117" y="196140"/>
                </a:lnTo>
                <a:lnTo>
                  <a:pt x="252134" y="56237"/>
                </a:lnTo>
                <a:close/>
              </a:path>
            </a:pathLst>
          </a:cu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1" name="Shape 181"/>
        <p:cNvGrpSpPr/>
        <p:nvPr/>
      </p:nvGrpSpPr>
      <p:grpSpPr>
        <a:xfrm>
          <a:off x="0" y="0"/>
          <a:ext cx="0" cy="0"/>
          <a:chOff x="0" y="0"/>
          <a:chExt cx="0" cy="0"/>
        </a:xfrm>
      </p:grpSpPr>
      <p:sp>
        <p:nvSpPr>
          <p:cNvPr id="182" name="Google Shape;182;p3"/>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183" name="Google Shape;183;p3"/>
          <p:cNvSpPr txBox="1"/>
          <p:nvPr>
            <p:ph type="title"/>
          </p:nvPr>
        </p:nvSpPr>
        <p:spPr>
          <a:xfrm>
            <a:off x="648875" y="125024"/>
            <a:ext cx="6188100" cy="748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EBEBEB"/>
              </a:buClr>
              <a:buSzPts val="4200"/>
              <a:buFont typeface="Times New Roman"/>
              <a:buNone/>
            </a:pPr>
            <a:r>
              <a:rPr lang="en-US">
                <a:solidFill>
                  <a:srgbClr val="EBEBEB"/>
                </a:solidFill>
                <a:latin typeface="Times New Roman"/>
                <a:ea typeface="Times New Roman"/>
                <a:cs typeface="Times New Roman"/>
                <a:sym typeface="Times New Roman"/>
              </a:rPr>
              <a:t>Cassava Plant</a:t>
            </a:r>
            <a:endParaRPr/>
          </a:p>
        </p:txBody>
      </p:sp>
      <p:sp>
        <p:nvSpPr>
          <p:cNvPr id="184" name="Google Shape;184;p3"/>
          <p:cNvSpPr/>
          <p:nvPr/>
        </p:nvSpPr>
        <p:spPr>
          <a:xfrm>
            <a:off x="7015974" y="-1"/>
            <a:ext cx="559472" cy="3709642"/>
          </a:xfrm>
          <a:custGeom>
            <a:rect b="b" l="l" r="r" t="t"/>
            <a:pathLst>
              <a:path extrusionOk="0" h="3709642" w="55947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185" name="Google Shape;185;p3"/>
          <p:cNvSpPr txBox="1"/>
          <p:nvPr>
            <p:ph idx="1" type="body"/>
          </p:nvPr>
        </p:nvSpPr>
        <p:spPr>
          <a:xfrm>
            <a:off x="410075" y="873225"/>
            <a:ext cx="6665700" cy="5701800"/>
          </a:xfrm>
          <a:prstGeom prst="rect">
            <a:avLst/>
          </a:prstGeom>
          <a:noFill/>
          <a:ln>
            <a:noFill/>
          </a:ln>
        </p:spPr>
        <p:txBody>
          <a:bodyPr anchorCtr="0" anchor="t" bIns="45700" lIns="91425" spcFirstLastPara="1" rIns="91425" wrap="square" tIns="45700">
            <a:noAutofit/>
          </a:bodyPr>
          <a:lstStyle/>
          <a:p>
            <a:pPr indent="-317500" lvl="0" marL="342900" rtl="0" algn="l">
              <a:lnSpc>
                <a:spcPct val="80000"/>
              </a:lnSpc>
              <a:spcBef>
                <a:spcPts val="0"/>
              </a:spcBef>
              <a:spcAft>
                <a:spcPts val="0"/>
              </a:spcAft>
              <a:buSzPts val="1040"/>
              <a:buChar char="►"/>
            </a:pPr>
            <a:r>
              <a:rPr b="1" lang="en-US" sz="1200">
                <a:solidFill>
                  <a:srgbClr val="FFFFFF"/>
                </a:solidFill>
                <a:latin typeface="Times New Roman"/>
                <a:ea typeface="Times New Roman"/>
                <a:cs typeface="Times New Roman"/>
                <a:sym typeface="Times New Roman"/>
              </a:rPr>
              <a:t>General Information</a:t>
            </a:r>
            <a:endParaRPr b="1"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rPr b="1" lang="en-US" sz="1200">
                <a:solidFill>
                  <a:srgbClr val="FFFFFF"/>
                </a:solidFill>
                <a:latin typeface="Times New Roman"/>
                <a:ea typeface="Times New Roman"/>
                <a:cs typeface="Times New Roman"/>
                <a:sym typeface="Times New Roman"/>
              </a:rPr>
              <a:t>- Scientific Name: </a:t>
            </a:r>
            <a:r>
              <a:rPr lang="en-US" sz="1200">
                <a:solidFill>
                  <a:srgbClr val="FFFFFF"/>
                </a:solidFill>
                <a:latin typeface="Times New Roman"/>
                <a:ea typeface="Times New Roman"/>
                <a:cs typeface="Times New Roman"/>
                <a:sym typeface="Times New Roman"/>
              </a:rPr>
              <a:t>Manihot esculenta</a:t>
            </a:r>
            <a:endParaRPr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rPr b="1" lang="en-US" sz="1200">
                <a:solidFill>
                  <a:srgbClr val="FFFFFF"/>
                </a:solidFill>
                <a:latin typeface="Times New Roman"/>
                <a:ea typeface="Times New Roman"/>
                <a:cs typeface="Times New Roman"/>
                <a:sym typeface="Times New Roman"/>
              </a:rPr>
              <a:t>- Family: </a:t>
            </a:r>
            <a:r>
              <a:rPr lang="en-US" sz="1200">
                <a:solidFill>
                  <a:srgbClr val="FFFFFF"/>
                </a:solidFill>
                <a:latin typeface="Times New Roman"/>
                <a:ea typeface="Times New Roman"/>
                <a:cs typeface="Times New Roman"/>
                <a:sym typeface="Times New Roman"/>
              </a:rPr>
              <a:t>Euphorbiaceae</a:t>
            </a:r>
            <a:endParaRPr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rPr b="1" lang="en-US" sz="1200">
                <a:solidFill>
                  <a:srgbClr val="FFFFFF"/>
                </a:solidFill>
                <a:latin typeface="Times New Roman"/>
                <a:ea typeface="Times New Roman"/>
                <a:cs typeface="Times New Roman"/>
                <a:sym typeface="Times New Roman"/>
              </a:rPr>
              <a:t>- Common Names:</a:t>
            </a:r>
            <a:r>
              <a:rPr lang="en-US" sz="1200">
                <a:solidFill>
                  <a:srgbClr val="FFFFFF"/>
                </a:solidFill>
                <a:latin typeface="Times New Roman"/>
                <a:ea typeface="Times New Roman"/>
                <a:cs typeface="Times New Roman"/>
                <a:sym typeface="Times New Roman"/>
              </a:rPr>
              <a:t> Cassava, yuca, mandioca, tapioca</a:t>
            </a:r>
            <a:endParaRPr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rPr b="1" lang="en-US" sz="1200">
                <a:solidFill>
                  <a:srgbClr val="FFFFFF"/>
                </a:solidFill>
                <a:latin typeface="Times New Roman"/>
                <a:ea typeface="Times New Roman"/>
                <a:cs typeface="Times New Roman"/>
                <a:sym typeface="Times New Roman"/>
              </a:rPr>
              <a:t>- Homeland: </a:t>
            </a:r>
            <a:r>
              <a:rPr lang="en-US" sz="1200">
                <a:solidFill>
                  <a:srgbClr val="FFFFFF"/>
                </a:solidFill>
                <a:latin typeface="Times New Roman"/>
                <a:ea typeface="Times New Roman"/>
                <a:cs typeface="Times New Roman"/>
                <a:sym typeface="Times New Roman"/>
              </a:rPr>
              <a:t>South America, especially Brazil and Paraguay</a:t>
            </a:r>
            <a:endParaRPr sz="1200">
              <a:solidFill>
                <a:srgbClr val="FFFFFF"/>
              </a:solidFill>
              <a:latin typeface="Times New Roman"/>
              <a:ea typeface="Times New Roman"/>
              <a:cs typeface="Times New Roman"/>
              <a:sym typeface="Times New Roman"/>
            </a:endParaRPr>
          </a:p>
          <a:p>
            <a:pPr indent="0" lvl="0" marL="0" rtl="0" algn="l">
              <a:lnSpc>
                <a:spcPct val="80000"/>
              </a:lnSpc>
              <a:spcBef>
                <a:spcPts val="0"/>
              </a:spcBef>
              <a:spcAft>
                <a:spcPts val="0"/>
              </a:spcAft>
              <a:buNone/>
            </a:pPr>
            <a:r>
              <a:t/>
            </a:r>
            <a:endParaRPr b="1" sz="1200">
              <a:solidFill>
                <a:srgbClr val="FFFFFF"/>
              </a:solidFill>
              <a:latin typeface="Times New Roman"/>
              <a:ea typeface="Times New Roman"/>
              <a:cs typeface="Times New Roman"/>
              <a:sym typeface="Times New Roman"/>
            </a:endParaRPr>
          </a:p>
          <a:p>
            <a:pPr indent="-317500" lvl="0" marL="342900" rtl="0" algn="l">
              <a:lnSpc>
                <a:spcPct val="80000"/>
              </a:lnSpc>
              <a:spcBef>
                <a:spcPts val="0"/>
              </a:spcBef>
              <a:spcAft>
                <a:spcPts val="0"/>
              </a:spcAft>
              <a:buSzPts val="1040"/>
              <a:buChar char="►"/>
            </a:pPr>
            <a:r>
              <a:rPr b="1" lang="en-US" sz="1200">
                <a:solidFill>
                  <a:srgbClr val="FFFFFF"/>
                </a:solidFill>
                <a:latin typeface="Times New Roman"/>
                <a:ea typeface="Times New Roman"/>
                <a:cs typeface="Times New Roman"/>
                <a:sym typeface="Times New Roman"/>
              </a:rPr>
              <a:t>Botanical Characteristics</a:t>
            </a:r>
            <a:endParaRPr b="1"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rPr b="1" lang="en-US" sz="1200">
                <a:solidFill>
                  <a:srgbClr val="FFFFFF"/>
                </a:solidFill>
                <a:latin typeface="Times New Roman"/>
                <a:ea typeface="Times New Roman"/>
                <a:cs typeface="Times New Roman"/>
                <a:sym typeface="Times New Roman"/>
              </a:rPr>
              <a:t>- Root: </a:t>
            </a:r>
            <a:r>
              <a:rPr lang="en-US" sz="1200">
                <a:solidFill>
                  <a:srgbClr val="FFFFFF"/>
                </a:solidFill>
                <a:latin typeface="Times New Roman"/>
                <a:ea typeface="Times New Roman"/>
                <a:cs typeface="Times New Roman"/>
                <a:sym typeface="Times New Roman"/>
              </a:rPr>
              <a:t>Cassava is grown for its large underground roots rich in starch. These roots are long and cylindrical, usually 5-10</a:t>
            </a:r>
            <a:r>
              <a:rPr lang="en-US" sz="1200">
                <a:solidFill>
                  <a:srgbClr val="FFFFFF"/>
                </a:solidFill>
                <a:latin typeface="Times New Roman"/>
                <a:ea typeface="Times New Roman"/>
                <a:cs typeface="Times New Roman"/>
                <a:sym typeface="Times New Roman"/>
              </a:rPr>
              <a:t> </a:t>
            </a:r>
            <a:r>
              <a:rPr lang="en-US" sz="1200">
                <a:solidFill>
                  <a:srgbClr val="FFFFFF"/>
                </a:solidFill>
                <a:latin typeface="Times New Roman"/>
                <a:ea typeface="Times New Roman"/>
                <a:cs typeface="Times New Roman"/>
                <a:sym typeface="Times New Roman"/>
              </a:rPr>
              <a:t>cm in diameter and 15-30 cm in length.</a:t>
            </a:r>
            <a:endParaRPr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rPr b="1" lang="en-US" sz="1200">
                <a:solidFill>
                  <a:srgbClr val="FFFFFF"/>
                </a:solidFill>
                <a:latin typeface="Times New Roman"/>
                <a:ea typeface="Times New Roman"/>
                <a:cs typeface="Times New Roman"/>
                <a:sym typeface="Times New Roman"/>
              </a:rPr>
              <a:t>- Leaves: </a:t>
            </a:r>
            <a:r>
              <a:rPr lang="en-US" sz="1200">
                <a:solidFill>
                  <a:srgbClr val="FFFFFF"/>
                </a:solidFill>
                <a:latin typeface="Times New Roman"/>
                <a:ea typeface="Times New Roman"/>
                <a:cs typeface="Times New Roman"/>
                <a:sym typeface="Times New Roman"/>
              </a:rPr>
              <a:t>The leaves are palmate-split and bright green in color.</a:t>
            </a:r>
            <a:endParaRPr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rPr b="1" lang="en-US" sz="1200">
                <a:solidFill>
                  <a:srgbClr val="FFFFFF"/>
                </a:solidFill>
                <a:latin typeface="Times New Roman"/>
                <a:ea typeface="Times New Roman"/>
                <a:cs typeface="Times New Roman"/>
                <a:sym typeface="Times New Roman"/>
              </a:rPr>
              <a:t>- Flowers: </a:t>
            </a:r>
            <a:r>
              <a:rPr lang="en-US" sz="1200">
                <a:solidFill>
                  <a:srgbClr val="FFFFFF"/>
                </a:solidFill>
                <a:latin typeface="Times New Roman"/>
                <a:ea typeface="Times New Roman"/>
                <a:cs typeface="Times New Roman"/>
                <a:sym typeface="Times New Roman"/>
              </a:rPr>
              <a:t>The plant has small, white or yellow flowers, but usually does not bear fruit.</a:t>
            </a:r>
            <a:endParaRPr sz="1200">
              <a:solidFill>
                <a:srgbClr val="FFFFFF"/>
              </a:solidFill>
              <a:latin typeface="Times New Roman"/>
              <a:ea typeface="Times New Roman"/>
              <a:cs typeface="Times New Roman"/>
              <a:sym typeface="Times New Roman"/>
            </a:endParaRPr>
          </a:p>
          <a:p>
            <a:pPr indent="0" lvl="0" marL="0" rtl="0" algn="l">
              <a:lnSpc>
                <a:spcPct val="80000"/>
              </a:lnSpc>
              <a:spcBef>
                <a:spcPts val="0"/>
              </a:spcBef>
              <a:spcAft>
                <a:spcPts val="0"/>
              </a:spcAft>
              <a:buNone/>
            </a:pPr>
            <a:r>
              <a:t/>
            </a:r>
            <a:endParaRPr b="1" sz="1200">
              <a:solidFill>
                <a:srgbClr val="FFFFFF"/>
              </a:solidFill>
              <a:latin typeface="Times New Roman"/>
              <a:ea typeface="Times New Roman"/>
              <a:cs typeface="Times New Roman"/>
              <a:sym typeface="Times New Roman"/>
            </a:endParaRPr>
          </a:p>
          <a:p>
            <a:pPr indent="-317500" lvl="0" marL="342900" rtl="0" algn="l">
              <a:lnSpc>
                <a:spcPct val="80000"/>
              </a:lnSpc>
              <a:spcBef>
                <a:spcPts val="0"/>
              </a:spcBef>
              <a:spcAft>
                <a:spcPts val="0"/>
              </a:spcAft>
              <a:buSzPts val="1040"/>
              <a:buChar char="►"/>
            </a:pPr>
            <a:r>
              <a:rPr b="1" lang="en-US" sz="1200">
                <a:solidFill>
                  <a:srgbClr val="FFFFFF"/>
                </a:solidFill>
                <a:latin typeface="Times New Roman"/>
                <a:ea typeface="Times New Roman"/>
                <a:cs typeface="Times New Roman"/>
                <a:sym typeface="Times New Roman"/>
              </a:rPr>
              <a:t>Usage areas</a:t>
            </a:r>
            <a:endParaRPr b="1"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rPr b="1" lang="en-US" sz="1200">
                <a:solidFill>
                  <a:srgbClr val="FFFFFF"/>
                </a:solidFill>
                <a:latin typeface="Times New Roman"/>
                <a:ea typeface="Times New Roman"/>
                <a:cs typeface="Times New Roman"/>
                <a:sym typeface="Times New Roman"/>
              </a:rPr>
              <a:t>- Food: </a:t>
            </a:r>
            <a:r>
              <a:rPr lang="en-US" sz="1200">
                <a:solidFill>
                  <a:srgbClr val="FFFFFF"/>
                </a:solidFill>
                <a:latin typeface="Times New Roman"/>
                <a:ea typeface="Times New Roman"/>
                <a:cs typeface="Times New Roman"/>
                <a:sym typeface="Times New Roman"/>
              </a:rPr>
              <a:t>Cassava roots can be consumed directly after cooking or processed into flour, starch (tapioca) and other products.</a:t>
            </a:r>
            <a:r>
              <a:rPr lang="en-US" sz="1200">
                <a:solidFill>
                  <a:srgbClr val="FFFFFF"/>
                </a:solidFill>
                <a:latin typeface="Times New Roman"/>
                <a:ea typeface="Times New Roman"/>
                <a:cs typeface="Times New Roman"/>
                <a:sym typeface="Times New Roman"/>
              </a:rPr>
              <a:t> </a:t>
            </a:r>
            <a:r>
              <a:rPr lang="en-US" sz="1200">
                <a:solidFill>
                  <a:srgbClr val="FFFFFF"/>
                </a:solidFill>
                <a:latin typeface="Times New Roman"/>
                <a:ea typeface="Times New Roman"/>
                <a:cs typeface="Times New Roman"/>
                <a:sym typeface="Times New Roman"/>
              </a:rPr>
              <a:t>Cassava root is widely used in gluten-free diets, especially since it does not contain gluten.</a:t>
            </a:r>
            <a:endParaRPr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rPr b="1" lang="en-US" sz="1200">
                <a:solidFill>
                  <a:srgbClr val="FFFFFF"/>
                </a:solidFill>
                <a:latin typeface="Times New Roman"/>
                <a:ea typeface="Times New Roman"/>
                <a:cs typeface="Times New Roman"/>
                <a:sym typeface="Times New Roman"/>
              </a:rPr>
              <a:t>- Industrial: </a:t>
            </a:r>
            <a:r>
              <a:rPr lang="en-US" sz="1200">
                <a:solidFill>
                  <a:srgbClr val="FFFFFF"/>
                </a:solidFill>
                <a:latin typeface="Times New Roman"/>
                <a:ea typeface="Times New Roman"/>
                <a:cs typeface="Times New Roman"/>
                <a:sym typeface="Times New Roman"/>
              </a:rPr>
              <a:t>Cassava starch is used in various industrial applications such as paper, textiles and adhesives.</a:t>
            </a:r>
            <a:endParaRPr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rPr b="1" lang="en-US" sz="1200">
                <a:solidFill>
                  <a:srgbClr val="FFFFFF"/>
                </a:solidFill>
                <a:latin typeface="Times New Roman"/>
                <a:ea typeface="Times New Roman"/>
                <a:cs typeface="Times New Roman"/>
                <a:sym typeface="Times New Roman"/>
              </a:rPr>
              <a:t>- Animal Feed: </a:t>
            </a:r>
            <a:r>
              <a:rPr lang="en-US" sz="1200">
                <a:solidFill>
                  <a:srgbClr val="FFFFFF"/>
                </a:solidFill>
                <a:latin typeface="Times New Roman"/>
                <a:ea typeface="Times New Roman"/>
                <a:cs typeface="Times New Roman"/>
                <a:sym typeface="Times New Roman"/>
              </a:rPr>
              <a:t>The leaves and barks of the Cassava plant can be used as animal feed.</a:t>
            </a:r>
            <a:endParaRPr sz="1200">
              <a:solidFill>
                <a:srgbClr val="FFFFFF"/>
              </a:solidFill>
              <a:latin typeface="Times New Roman"/>
              <a:ea typeface="Times New Roman"/>
              <a:cs typeface="Times New Roman"/>
              <a:sym typeface="Times New Roman"/>
            </a:endParaRPr>
          </a:p>
          <a:p>
            <a:pPr indent="0" lvl="0" marL="0" rtl="0" algn="l">
              <a:lnSpc>
                <a:spcPct val="80000"/>
              </a:lnSpc>
              <a:spcBef>
                <a:spcPts val="0"/>
              </a:spcBef>
              <a:spcAft>
                <a:spcPts val="0"/>
              </a:spcAft>
              <a:buNone/>
            </a:pPr>
            <a:r>
              <a:t/>
            </a:r>
            <a:endParaRPr b="1" sz="1200">
              <a:solidFill>
                <a:srgbClr val="FFFFFF"/>
              </a:solidFill>
              <a:latin typeface="Times New Roman"/>
              <a:ea typeface="Times New Roman"/>
              <a:cs typeface="Times New Roman"/>
              <a:sym typeface="Times New Roman"/>
            </a:endParaRPr>
          </a:p>
          <a:p>
            <a:pPr indent="-317500" lvl="0" marL="342900" rtl="0" algn="l">
              <a:lnSpc>
                <a:spcPct val="80000"/>
              </a:lnSpc>
              <a:spcBef>
                <a:spcPts val="0"/>
              </a:spcBef>
              <a:spcAft>
                <a:spcPts val="0"/>
              </a:spcAft>
              <a:buSzPts val="1040"/>
              <a:buChar char="►"/>
            </a:pPr>
            <a:r>
              <a:rPr b="1" lang="en-US" sz="1200">
                <a:solidFill>
                  <a:srgbClr val="FFFFFF"/>
                </a:solidFill>
                <a:latin typeface="Times New Roman"/>
                <a:ea typeface="Times New Roman"/>
                <a:cs typeface="Times New Roman"/>
                <a:sym typeface="Times New Roman"/>
              </a:rPr>
              <a:t>Nutritional Values</a:t>
            </a:r>
            <a:endParaRPr b="1"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rPr b="1" lang="en-US" sz="1200">
                <a:solidFill>
                  <a:srgbClr val="FFFFFF"/>
                </a:solidFill>
                <a:latin typeface="Times New Roman"/>
                <a:ea typeface="Times New Roman"/>
                <a:cs typeface="Times New Roman"/>
                <a:sym typeface="Times New Roman"/>
              </a:rPr>
              <a:t>-Calories:</a:t>
            </a:r>
            <a:r>
              <a:rPr lang="en-US" sz="1200">
                <a:solidFill>
                  <a:srgbClr val="FFFFFF"/>
                </a:solidFill>
                <a:latin typeface="Times New Roman"/>
                <a:ea typeface="Times New Roman"/>
                <a:cs typeface="Times New Roman"/>
                <a:sym typeface="Times New Roman"/>
              </a:rPr>
              <a:t> Cassava root is rich in energy due to its high carbohydrate content.</a:t>
            </a:r>
            <a:endParaRPr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rPr b="1" lang="en-US" sz="1200">
                <a:solidFill>
                  <a:srgbClr val="FFFFFF"/>
                </a:solidFill>
                <a:latin typeface="Times New Roman"/>
                <a:ea typeface="Times New Roman"/>
                <a:cs typeface="Times New Roman"/>
                <a:sym typeface="Times New Roman"/>
              </a:rPr>
              <a:t>- Vitamins and Minerals: </a:t>
            </a:r>
            <a:r>
              <a:rPr b="1" lang="en-US" sz="1300">
                <a:solidFill>
                  <a:srgbClr val="FFFFFF"/>
                </a:solidFill>
                <a:latin typeface="Times New Roman"/>
                <a:ea typeface="Times New Roman"/>
                <a:cs typeface="Times New Roman"/>
                <a:sym typeface="Times New Roman"/>
              </a:rPr>
              <a:t>It contains vitamins</a:t>
            </a:r>
            <a:r>
              <a:rPr b="1" lang="en-US" sz="1200">
                <a:solidFill>
                  <a:srgbClr val="FFFFFF"/>
                </a:solidFill>
                <a:latin typeface="Times New Roman"/>
                <a:ea typeface="Times New Roman"/>
                <a:cs typeface="Times New Roman"/>
                <a:sym typeface="Times New Roman"/>
              </a:rPr>
              <a:t> </a:t>
            </a:r>
            <a:r>
              <a:rPr lang="en-US" sz="1200">
                <a:solidFill>
                  <a:srgbClr val="FFFFFF"/>
                </a:solidFill>
                <a:latin typeface="Times New Roman"/>
                <a:ea typeface="Times New Roman"/>
                <a:cs typeface="Times New Roman"/>
                <a:sym typeface="Times New Roman"/>
              </a:rPr>
              <a:t>such as vitamin C, thiamine, riboflavin and niacin.</a:t>
            </a:r>
            <a:endParaRPr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rPr b="1" lang="en-US" sz="1200">
                <a:solidFill>
                  <a:srgbClr val="FFFFFF"/>
                </a:solidFill>
                <a:latin typeface="Times New Roman"/>
                <a:ea typeface="Times New Roman"/>
                <a:cs typeface="Times New Roman"/>
                <a:sym typeface="Times New Roman"/>
              </a:rPr>
              <a:t>- Protein: </a:t>
            </a:r>
            <a:r>
              <a:rPr lang="en-US" sz="1200">
                <a:solidFill>
                  <a:srgbClr val="FFFFFF"/>
                </a:solidFill>
                <a:latin typeface="Times New Roman"/>
                <a:ea typeface="Times New Roman"/>
                <a:cs typeface="Times New Roman"/>
                <a:sym typeface="Times New Roman"/>
              </a:rPr>
              <a:t>Its protein content is low, so it is recommended to consume it with other protein sources for a balanced diet.</a:t>
            </a:r>
            <a:endParaRPr b="1"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t/>
            </a:r>
            <a:endParaRPr b="1" sz="1200">
              <a:solidFill>
                <a:srgbClr val="FFFFFF"/>
              </a:solidFill>
              <a:latin typeface="Times New Roman"/>
              <a:ea typeface="Times New Roman"/>
              <a:cs typeface="Times New Roman"/>
              <a:sym typeface="Times New Roman"/>
            </a:endParaRPr>
          </a:p>
          <a:p>
            <a:pPr indent="-317500" lvl="0" marL="342900" rtl="0" algn="l">
              <a:lnSpc>
                <a:spcPct val="80000"/>
              </a:lnSpc>
              <a:spcBef>
                <a:spcPts val="0"/>
              </a:spcBef>
              <a:spcAft>
                <a:spcPts val="0"/>
              </a:spcAft>
              <a:buSzPts val="1040"/>
              <a:buChar char="►"/>
            </a:pPr>
            <a:r>
              <a:rPr b="1" lang="en-US" sz="1200">
                <a:solidFill>
                  <a:srgbClr val="FFFFFF"/>
                </a:solidFill>
                <a:latin typeface="Times New Roman"/>
                <a:ea typeface="Times New Roman"/>
                <a:cs typeface="Times New Roman"/>
                <a:sym typeface="Times New Roman"/>
              </a:rPr>
              <a:t>Potential Problems</a:t>
            </a:r>
            <a:endParaRPr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rPr b="1" lang="en-US" sz="1200">
                <a:solidFill>
                  <a:srgbClr val="FFFFFF"/>
                </a:solidFill>
                <a:latin typeface="Times New Roman"/>
                <a:ea typeface="Times New Roman"/>
                <a:cs typeface="Times New Roman"/>
                <a:sym typeface="Times New Roman"/>
              </a:rPr>
              <a:t>- Diseases and Pests:</a:t>
            </a:r>
            <a:r>
              <a:rPr lang="en-US" sz="1200">
                <a:solidFill>
                  <a:srgbClr val="FFFFFF"/>
                </a:solidFill>
                <a:latin typeface="Times New Roman"/>
                <a:ea typeface="Times New Roman"/>
                <a:cs typeface="Times New Roman"/>
                <a:sym typeface="Times New Roman"/>
              </a:rPr>
              <a:t> </a:t>
            </a:r>
            <a:r>
              <a:rPr b="1" lang="en-US" sz="1300">
                <a:solidFill>
                  <a:srgbClr val="FFFFFF"/>
                </a:solidFill>
                <a:latin typeface="Times New Roman"/>
                <a:ea typeface="Times New Roman"/>
                <a:cs typeface="Times New Roman"/>
                <a:sym typeface="Times New Roman"/>
              </a:rPr>
              <a:t>Diseases such </a:t>
            </a:r>
            <a:r>
              <a:rPr b="1" lang="en-US" sz="1200">
                <a:solidFill>
                  <a:srgbClr val="FFFFFF"/>
                </a:solidFill>
                <a:latin typeface="Times New Roman"/>
                <a:ea typeface="Times New Roman"/>
                <a:cs typeface="Times New Roman"/>
                <a:sym typeface="Times New Roman"/>
              </a:rPr>
              <a:t>as</a:t>
            </a:r>
            <a:r>
              <a:rPr lang="en-US" sz="1200">
                <a:solidFill>
                  <a:srgbClr val="FFFFFF"/>
                </a:solidFill>
                <a:latin typeface="Times New Roman"/>
                <a:ea typeface="Times New Roman"/>
                <a:cs typeface="Times New Roman"/>
                <a:sym typeface="Times New Roman"/>
              </a:rPr>
              <a:t> Cassava mosaic virus (CMV), Cassava bacterial blight (CBB), Cassava brown streak disease(CBSD) and Cassava green </a:t>
            </a:r>
            <a:r>
              <a:rPr lang="en-US" sz="1200">
                <a:solidFill>
                  <a:srgbClr val="FFFFFF"/>
                </a:solidFill>
                <a:latin typeface="Times New Roman"/>
                <a:ea typeface="Times New Roman"/>
                <a:cs typeface="Times New Roman"/>
                <a:sym typeface="Times New Roman"/>
              </a:rPr>
              <a:t>mottle disease(CGMD)</a:t>
            </a:r>
            <a:r>
              <a:rPr lang="en-US" sz="1200">
                <a:solidFill>
                  <a:srgbClr val="FFFFFF"/>
                </a:solidFill>
                <a:latin typeface="Times New Roman"/>
                <a:ea typeface="Times New Roman"/>
                <a:cs typeface="Times New Roman"/>
                <a:sym typeface="Times New Roman"/>
              </a:rPr>
              <a:t> can damage the plant.</a:t>
            </a:r>
            <a:endParaRPr sz="1200">
              <a:solidFill>
                <a:srgbClr val="FFFFFF"/>
              </a:solidFill>
              <a:latin typeface="Times New Roman"/>
              <a:ea typeface="Times New Roman"/>
              <a:cs typeface="Times New Roman"/>
              <a:sym typeface="Times New Roman"/>
            </a:endParaRPr>
          </a:p>
          <a:p>
            <a:pPr indent="0" lvl="0" marL="0" rtl="0" algn="l">
              <a:lnSpc>
                <a:spcPct val="80000"/>
              </a:lnSpc>
              <a:spcBef>
                <a:spcPts val="0"/>
              </a:spcBef>
              <a:spcAft>
                <a:spcPts val="0"/>
              </a:spcAft>
              <a:buNone/>
            </a:pPr>
            <a:r>
              <a:t/>
            </a:r>
            <a:endParaRPr b="1" sz="1200">
              <a:solidFill>
                <a:srgbClr val="FFFFFF"/>
              </a:solidFill>
              <a:latin typeface="Times New Roman"/>
              <a:ea typeface="Times New Roman"/>
              <a:cs typeface="Times New Roman"/>
              <a:sym typeface="Times New Roman"/>
            </a:endParaRPr>
          </a:p>
          <a:p>
            <a:pPr indent="-317500" lvl="0" marL="342900" rtl="0" algn="l">
              <a:lnSpc>
                <a:spcPct val="80000"/>
              </a:lnSpc>
              <a:spcBef>
                <a:spcPts val="0"/>
              </a:spcBef>
              <a:spcAft>
                <a:spcPts val="0"/>
              </a:spcAft>
              <a:buSzPts val="1040"/>
              <a:buChar char="►"/>
            </a:pPr>
            <a:r>
              <a:rPr b="1" lang="en-US" sz="1200">
                <a:solidFill>
                  <a:srgbClr val="FFFFFF"/>
                </a:solidFill>
                <a:latin typeface="Times New Roman"/>
                <a:ea typeface="Times New Roman"/>
                <a:cs typeface="Times New Roman"/>
                <a:sym typeface="Times New Roman"/>
              </a:rPr>
              <a:t>Economic and Social Importance</a:t>
            </a:r>
            <a:endParaRPr b="1"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rPr b="1" lang="en-US" sz="1200">
                <a:solidFill>
                  <a:srgbClr val="FFFFFF"/>
                </a:solidFill>
                <a:latin typeface="Times New Roman"/>
                <a:ea typeface="Times New Roman"/>
                <a:cs typeface="Times New Roman"/>
                <a:sym typeface="Times New Roman"/>
              </a:rPr>
              <a:t>- Source of Livelihood:</a:t>
            </a:r>
            <a:r>
              <a:rPr lang="en-US" sz="1200">
                <a:solidFill>
                  <a:srgbClr val="FFFFFF"/>
                </a:solidFill>
                <a:latin typeface="Times New Roman"/>
                <a:ea typeface="Times New Roman"/>
                <a:cs typeface="Times New Roman"/>
                <a:sym typeface="Times New Roman"/>
              </a:rPr>
              <a:t> In many tropical regions, cassava is the main source of food and livelihood for millions of people.</a:t>
            </a:r>
            <a:endParaRPr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rPr b="1" lang="en-US" sz="1200">
                <a:solidFill>
                  <a:srgbClr val="FFFFFF"/>
                </a:solidFill>
                <a:latin typeface="Times New Roman"/>
                <a:ea typeface="Times New Roman"/>
                <a:cs typeface="Times New Roman"/>
                <a:sym typeface="Times New Roman"/>
              </a:rPr>
              <a:t>- Food Safety: </a:t>
            </a:r>
            <a:r>
              <a:rPr lang="en-US" sz="1200">
                <a:solidFill>
                  <a:srgbClr val="FFFFFF"/>
                </a:solidFill>
                <a:latin typeface="Times New Roman"/>
                <a:ea typeface="Times New Roman"/>
                <a:cs typeface="Times New Roman"/>
                <a:sym typeface="Times New Roman"/>
              </a:rPr>
              <a:t>It provides food safety due to its durability and high efficiency in times of famine and economic crisis.</a:t>
            </a:r>
            <a:endParaRPr b="1" sz="1200">
              <a:solidFill>
                <a:srgbClr val="FFFFFF"/>
              </a:solidFill>
              <a:latin typeface="Times New Roman"/>
              <a:ea typeface="Times New Roman"/>
              <a:cs typeface="Times New Roman"/>
              <a:sym typeface="Times New Roman"/>
            </a:endParaRPr>
          </a:p>
          <a:p>
            <a:pPr indent="0" lvl="0" marL="342900" rtl="0" algn="l">
              <a:lnSpc>
                <a:spcPct val="80000"/>
              </a:lnSpc>
              <a:spcBef>
                <a:spcPts val="0"/>
              </a:spcBef>
              <a:spcAft>
                <a:spcPts val="0"/>
              </a:spcAft>
              <a:buNone/>
            </a:pPr>
            <a:r>
              <a:t/>
            </a:r>
            <a:endParaRPr sz="1200">
              <a:solidFill>
                <a:srgbClr val="FFFFFF"/>
              </a:solidFill>
              <a:latin typeface="Times New Roman"/>
              <a:ea typeface="Times New Roman"/>
              <a:cs typeface="Times New Roman"/>
              <a:sym typeface="Times New Roman"/>
            </a:endParaRPr>
          </a:p>
          <a:p>
            <a:pPr indent="-317500" lvl="0" marL="342900" rtl="0" algn="l">
              <a:lnSpc>
                <a:spcPct val="80000"/>
              </a:lnSpc>
              <a:spcBef>
                <a:spcPts val="0"/>
              </a:spcBef>
              <a:spcAft>
                <a:spcPts val="0"/>
              </a:spcAft>
              <a:buSzPts val="1040"/>
              <a:buChar char="►"/>
            </a:pPr>
            <a:r>
              <a:rPr lang="en-US" sz="1200">
                <a:solidFill>
                  <a:srgbClr val="FFFFFF"/>
                </a:solidFill>
                <a:latin typeface="Times New Roman"/>
                <a:ea typeface="Times New Roman"/>
                <a:cs typeface="Times New Roman"/>
                <a:sym typeface="Times New Roman"/>
              </a:rPr>
              <a:t>Cassava plays an important role as both a staple food and an economic crop, especially in developing countries. However, it must be consumed with correct processing and cooking methods.</a:t>
            </a:r>
            <a:endParaRPr sz="1200">
              <a:solidFill>
                <a:srgbClr val="FFFFFF"/>
              </a:solidFill>
            </a:endParaRPr>
          </a:p>
        </p:txBody>
      </p:sp>
      <p:pic>
        <p:nvPicPr>
          <p:cNvPr descr="50,166 en la categoría «Cassava food» de fotos e imágenes de stock ..." id="186" name="Google Shape;186;p3"/>
          <p:cNvPicPr preferRelativeResize="0"/>
          <p:nvPr/>
        </p:nvPicPr>
        <p:blipFill rotWithShape="1">
          <a:blip r:embed="rId4">
            <a:alphaModFix/>
          </a:blip>
          <a:srcRect b="2" l="0" r="3408" t="0"/>
          <a:stretch/>
        </p:blipFill>
        <p:spPr>
          <a:xfrm>
            <a:off x="7230352" y="2"/>
            <a:ext cx="4962068" cy="3428999"/>
          </a:xfrm>
          <a:custGeom>
            <a:rect b="b" l="l" r="r" t="t"/>
            <a:pathLst>
              <a:path extrusionOk="0" h="3428999" w="4962068">
                <a:moveTo>
                  <a:pt x="0" y="0"/>
                </a:moveTo>
                <a:lnTo>
                  <a:pt x="1343538" y="0"/>
                </a:lnTo>
                <a:lnTo>
                  <a:pt x="1343538" y="1"/>
                </a:lnTo>
                <a:lnTo>
                  <a:pt x="4962068" y="1"/>
                </a:lnTo>
                <a:lnTo>
                  <a:pt x="4962067" y="3428999"/>
                </a:lnTo>
                <a:lnTo>
                  <a:pt x="250957" y="3428999"/>
                </a:lnTo>
                <a:lnTo>
                  <a:pt x="250957" y="3343961"/>
                </a:lnTo>
                <a:lnTo>
                  <a:pt x="251965" y="3201315"/>
                </a:lnTo>
                <a:lnTo>
                  <a:pt x="250957" y="3057297"/>
                </a:lnTo>
                <a:lnTo>
                  <a:pt x="248940" y="2911221"/>
                </a:lnTo>
                <a:lnTo>
                  <a:pt x="247091" y="2765146"/>
                </a:lnTo>
                <a:lnTo>
                  <a:pt x="243057" y="2617013"/>
                </a:lnTo>
                <a:lnTo>
                  <a:pt x="238855" y="2467509"/>
                </a:lnTo>
                <a:lnTo>
                  <a:pt x="233980" y="2318004"/>
                </a:lnTo>
                <a:lnTo>
                  <a:pt x="227089" y="2167128"/>
                </a:lnTo>
                <a:lnTo>
                  <a:pt x="218852" y="2014881"/>
                </a:lnTo>
                <a:lnTo>
                  <a:pt x="210952" y="1861947"/>
                </a:lnTo>
                <a:lnTo>
                  <a:pt x="200867" y="1709014"/>
                </a:lnTo>
                <a:lnTo>
                  <a:pt x="188764" y="1554023"/>
                </a:lnTo>
                <a:lnTo>
                  <a:pt x="176662" y="1401090"/>
                </a:lnTo>
                <a:lnTo>
                  <a:pt x="162710" y="1245413"/>
                </a:lnTo>
                <a:lnTo>
                  <a:pt x="147414" y="1089051"/>
                </a:lnTo>
                <a:lnTo>
                  <a:pt x="131278" y="934746"/>
                </a:lnTo>
                <a:lnTo>
                  <a:pt x="112452" y="778383"/>
                </a:lnTo>
                <a:lnTo>
                  <a:pt x="92281" y="622707"/>
                </a:lnTo>
                <a:lnTo>
                  <a:pt x="72278" y="466344"/>
                </a:lnTo>
                <a:lnTo>
                  <a:pt x="48914" y="310668"/>
                </a:lnTo>
                <a:lnTo>
                  <a:pt x="25045" y="155677"/>
                </a:lnTo>
                <a:close/>
              </a:path>
            </a:pathLst>
          </a:custGeom>
          <a:noFill/>
          <a:ln>
            <a:noFill/>
          </a:ln>
        </p:spPr>
      </p:pic>
      <p:pic>
        <p:nvPicPr>
          <p:cNvPr descr="Cassava could help restore degraded land • Earth.com" id="187" name="Google Shape;187;p3"/>
          <p:cNvPicPr preferRelativeResize="0"/>
          <p:nvPr/>
        </p:nvPicPr>
        <p:blipFill rotWithShape="1">
          <a:blip r:embed="rId5">
            <a:alphaModFix/>
          </a:blip>
          <a:srcRect b="-2" l="0" r="2658" t="0"/>
          <a:stretch/>
        </p:blipFill>
        <p:spPr>
          <a:xfrm>
            <a:off x="7228756" y="3428997"/>
            <a:ext cx="4963244" cy="3429002"/>
          </a:xfrm>
          <a:custGeom>
            <a:rect b="b" l="l" r="r" t="t"/>
            <a:pathLst>
              <a:path extrusionOk="0" h="3429002" w="4963244">
                <a:moveTo>
                  <a:pt x="252134" y="0"/>
                </a:moveTo>
                <a:lnTo>
                  <a:pt x="4963244" y="0"/>
                </a:lnTo>
                <a:lnTo>
                  <a:pt x="4963244" y="3429002"/>
                </a:lnTo>
                <a:lnTo>
                  <a:pt x="900697" y="3429002"/>
                </a:lnTo>
                <a:lnTo>
                  <a:pt x="900697" y="3429001"/>
                </a:lnTo>
                <a:lnTo>
                  <a:pt x="0" y="3429001"/>
                </a:lnTo>
                <a:lnTo>
                  <a:pt x="5883" y="3388539"/>
                </a:lnTo>
                <a:lnTo>
                  <a:pt x="23196" y="3269895"/>
                </a:lnTo>
                <a:lnTo>
                  <a:pt x="35299" y="3183484"/>
                </a:lnTo>
                <a:lnTo>
                  <a:pt x="48073" y="3080614"/>
                </a:lnTo>
                <a:lnTo>
                  <a:pt x="63369" y="2958542"/>
                </a:lnTo>
                <a:lnTo>
                  <a:pt x="79506" y="2823439"/>
                </a:lnTo>
                <a:lnTo>
                  <a:pt x="96483" y="2671192"/>
                </a:lnTo>
                <a:lnTo>
                  <a:pt x="114469" y="2505228"/>
                </a:lnTo>
                <a:lnTo>
                  <a:pt x="132454" y="2324863"/>
                </a:lnTo>
                <a:lnTo>
                  <a:pt x="150776" y="2132839"/>
                </a:lnTo>
                <a:lnTo>
                  <a:pt x="167753" y="1925727"/>
                </a:lnTo>
                <a:lnTo>
                  <a:pt x="184058" y="1709014"/>
                </a:lnTo>
                <a:lnTo>
                  <a:pt x="198849" y="1479957"/>
                </a:lnTo>
                <a:lnTo>
                  <a:pt x="212969" y="1241299"/>
                </a:lnTo>
                <a:lnTo>
                  <a:pt x="226248" y="992353"/>
                </a:lnTo>
                <a:lnTo>
                  <a:pt x="230955" y="864794"/>
                </a:lnTo>
                <a:lnTo>
                  <a:pt x="236165" y="734493"/>
                </a:lnTo>
                <a:lnTo>
                  <a:pt x="241040" y="602134"/>
                </a:lnTo>
                <a:lnTo>
                  <a:pt x="244234" y="469088"/>
                </a:lnTo>
                <a:lnTo>
                  <a:pt x="247091" y="333300"/>
                </a:lnTo>
                <a:lnTo>
                  <a:pt x="250117" y="196140"/>
                </a:lnTo>
                <a:lnTo>
                  <a:pt x="252134" y="56237"/>
                </a:lnTo>
                <a:close/>
              </a:path>
            </a:pathLst>
          </a:custGeom>
          <a:noFill/>
          <a:ln>
            <a:noFill/>
          </a:ln>
        </p:spPr>
      </p:pic>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1" name="Shape 191"/>
        <p:cNvGrpSpPr/>
        <p:nvPr/>
      </p:nvGrpSpPr>
      <p:grpSpPr>
        <a:xfrm>
          <a:off x="0" y="0"/>
          <a:ext cx="0" cy="0"/>
          <a:chOff x="0" y="0"/>
          <a:chExt cx="0" cy="0"/>
        </a:xfrm>
      </p:grpSpPr>
      <p:pic>
        <p:nvPicPr>
          <p:cNvPr id="192" name="Google Shape;192;p4"/>
          <p:cNvPicPr preferRelativeResize="0"/>
          <p:nvPr/>
        </p:nvPicPr>
        <p:blipFill rotWithShape="1">
          <a:blip r:embed="rId4">
            <a:alphaModFix/>
          </a:blip>
          <a:srcRect b="0" l="3613" r="0" t="0"/>
          <a:stretch/>
        </p:blipFill>
        <p:spPr>
          <a:xfrm>
            <a:off x="0" y="2669685"/>
            <a:ext cx="4037012" cy="4188315"/>
          </a:xfrm>
          <a:prstGeom prst="rect">
            <a:avLst/>
          </a:prstGeom>
          <a:noFill/>
          <a:ln>
            <a:noFill/>
          </a:ln>
        </p:spPr>
      </p:pic>
      <p:pic>
        <p:nvPicPr>
          <p:cNvPr id="193" name="Google Shape;193;p4"/>
          <p:cNvPicPr preferRelativeResize="0"/>
          <p:nvPr/>
        </p:nvPicPr>
        <p:blipFill rotWithShape="1">
          <a:blip r:embed="rId5">
            <a:alphaModFix/>
          </a:blip>
          <a:srcRect b="0" l="35640" r="0" t="0"/>
          <a:stretch/>
        </p:blipFill>
        <p:spPr>
          <a:xfrm>
            <a:off x="0" y="2892347"/>
            <a:ext cx="1522412" cy="2365453"/>
          </a:xfrm>
          <a:prstGeom prst="rect">
            <a:avLst/>
          </a:prstGeom>
          <a:noFill/>
          <a:ln>
            <a:noFill/>
          </a:ln>
        </p:spPr>
      </p:pic>
      <p:sp>
        <p:nvSpPr>
          <p:cNvPr id="194" name="Google Shape;194;p4"/>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b="50%" l="50%" r="50%" t="50%"/>
            </a:path>
            <a:tileRect/>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195" name="Google Shape;195;p4"/>
          <p:cNvPicPr preferRelativeResize="0"/>
          <p:nvPr/>
        </p:nvPicPr>
        <p:blipFill rotWithShape="1">
          <a:blip r:embed="rId6">
            <a:alphaModFix/>
          </a:blip>
          <a:srcRect b="0" l="0" r="0" t="28812"/>
          <a:stretch/>
        </p:blipFill>
        <p:spPr>
          <a:xfrm>
            <a:off x="7999412" y="0"/>
            <a:ext cx="1603387" cy="1141407"/>
          </a:xfrm>
          <a:prstGeom prst="rect">
            <a:avLst/>
          </a:prstGeom>
          <a:noFill/>
          <a:ln>
            <a:noFill/>
          </a:ln>
        </p:spPr>
      </p:pic>
      <p:pic>
        <p:nvPicPr>
          <p:cNvPr id="196" name="Google Shape;196;p4"/>
          <p:cNvPicPr preferRelativeResize="0"/>
          <p:nvPr/>
        </p:nvPicPr>
        <p:blipFill rotWithShape="1">
          <a:blip r:embed="rId7">
            <a:alphaModFix/>
          </a:blip>
          <a:srcRect b="23320" l="0" r="0" t="0"/>
          <a:stretch/>
        </p:blipFill>
        <p:spPr>
          <a:xfrm>
            <a:off x="8605878" y="6096000"/>
            <a:ext cx="993734" cy="762000"/>
          </a:xfrm>
          <a:prstGeom prst="rect">
            <a:avLst/>
          </a:prstGeom>
          <a:noFill/>
          <a:ln>
            <a:noFill/>
          </a:ln>
        </p:spPr>
      </p:pic>
      <p:sp>
        <p:nvSpPr>
          <p:cNvPr id="197" name="Google Shape;197;p4"/>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198" name="Google Shape;198;p4"/>
          <p:cNvPicPr preferRelativeResize="0"/>
          <p:nvPr/>
        </p:nvPicPr>
        <p:blipFill rotWithShape="1">
          <a:blip r:embed="rId8">
            <a:alphaModFix/>
          </a:blip>
          <a:srcRect b="-1" l="1486" r="7441" t="0"/>
          <a:stretch/>
        </p:blipFill>
        <p:spPr>
          <a:xfrm>
            <a:off x="1" y="-5"/>
            <a:ext cx="6095999" cy="5020241"/>
          </a:xfrm>
          <a:custGeom>
            <a:rect b="b" l="l" r="r" t="t"/>
            <a:pathLst>
              <a:path extrusionOk="0" h="5020241" w="6095999">
                <a:moveTo>
                  <a:pt x="0" y="0"/>
                </a:moveTo>
                <a:lnTo>
                  <a:pt x="6095999" y="0"/>
                </a:lnTo>
                <a:lnTo>
                  <a:pt x="6095999"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a:noFill/>
          <a:ln>
            <a:noFill/>
          </a:ln>
        </p:spPr>
      </p:pic>
      <p:pic>
        <p:nvPicPr>
          <p:cNvPr descr="Cassava Leaf Disease Models | Kaggle" id="199" name="Google Shape;199;p4"/>
          <p:cNvPicPr preferRelativeResize="0"/>
          <p:nvPr/>
        </p:nvPicPr>
        <p:blipFill rotWithShape="1">
          <a:blip r:embed="rId9">
            <a:alphaModFix/>
          </a:blip>
          <a:srcRect b="24812" l="0" r="-2" t="0"/>
          <a:stretch/>
        </p:blipFill>
        <p:spPr>
          <a:xfrm>
            <a:off x="6096000" y="9403"/>
            <a:ext cx="6095696" cy="4583103"/>
          </a:xfrm>
          <a:custGeom>
            <a:rect b="b" l="l" r="r" t="t"/>
            <a:pathLst>
              <a:path extrusionOk="0" h="4583103" w="6095696">
                <a:moveTo>
                  <a:pt x="0" y="0"/>
                </a:moveTo>
                <a:lnTo>
                  <a:pt x="6095696" y="0"/>
                </a:lnTo>
                <a:lnTo>
                  <a:pt x="6095696" y="4057991"/>
                </a:lnTo>
                <a:lnTo>
                  <a:pt x="5818946" y="4110187"/>
                </a:lnTo>
                <a:lnTo>
                  <a:pt x="5543413" y="4159931"/>
                </a:lnTo>
                <a:lnTo>
                  <a:pt x="5266662" y="4208624"/>
                </a:lnTo>
                <a:lnTo>
                  <a:pt x="4988691" y="4250310"/>
                </a:lnTo>
                <a:lnTo>
                  <a:pt x="4711940" y="4292347"/>
                </a:lnTo>
                <a:lnTo>
                  <a:pt x="4433969" y="4331582"/>
                </a:lnTo>
                <a:lnTo>
                  <a:pt x="4159656" y="4365211"/>
                </a:lnTo>
                <a:lnTo>
                  <a:pt x="3881685" y="4397089"/>
                </a:lnTo>
                <a:lnTo>
                  <a:pt x="3604934" y="4426165"/>
                </a:lnTo>
                <a:lnTo>
                  <a:pt x="3333059" y="4451387"/>
                </a:lnTo>
                <a:lnTo>
                  <a:pt x="3057527" y="4476609"/>
                </a:lnTo>
                <a:lnTo>
                  <a:pt x="2785652" y="4497628"/>
                </a:lnTo>
                <a:lnTo>
                  <a:pt x="2513777" y="4514092"/>
                </a:lnTo>
                <a:lnTo>
                  <a:pt x="2243122" y="4531258"/>
                </a:lnTo>
                <a:lnTo>
                  <a:pt x="1974904" y="4545620"/>
                </a:lnTo>
                <a:lnTo>
                  <a:pt x="1709125" y="4555779"/>
                </a:lnTo>
                <a:lnTo>
                  <a:pt x="1443346" y="4564537"/>
                </a:lnTo>
                <a:lnTo>
                  <a:pt x="1180006" y="4572944"/>
                </a:lnTo>
                <a:lnTo>
                  <a:pt x="920323" y="4576798"/>
                </a:lnTo>
                <a:lnTo>
                  <a:pt x="660640" y="4581001"/>
                </a:lnTo>
                <a:lnTo>
                  <a:pt x="404614" y="4583103"/>
                </a:lnTo>
                <a:lnTo>
                  <a:pt x="151027" y="4581001"/>
                </a:lnTo>
                <a:lnTo>
                  <a:pt x="0" y="4581001"/>
                </a:lnTo>
                <a:close/>
              </a:path>
            </a:pathLst>
          </a:custGeom>
          <a:noFill/>
          <a:ln>
            <a:noFill/>
          </a:ln>
        </p:spPr>
      </p:pic>
      <p:sp>
        <p:nvSpPr>
          <p:cNvPr id="200" name="Google Shape;200;p4"/>
          <p:cNvSpPr/>
          <p:nvPr/>
        </p:nvSpPr>
        <p:spPr>
          <a:xfrm>
            <a:off x="8719939" y="3753695"/>
            <a:ext cx="3472060" cy="825932"/>
          </a:xfrm>
          <a:custGeom>
            <a:rect b="b" l="l" r="r" t="t"/>
            <a:pathLst>
              <a:path extrusionOk="0" h="825932" w="3472060">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lt2">
              <a:alpha val="4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1" name="Google Shape;201;p4"/>
          <p:cNvSpPr/>
          <p:nvPr/>
        </p:nvSpPr>
        <p:spPr>
          <a:xfrm>
            <a:off x="0" y="3331800"/>
            <a:ext cx="12192000" cy="3524102"/>
          </a:xfrm>
          <a:custGeom>
            <a:rect b="b" l="l" r="r" t="t"/>
            <a:pathLst>
              <a:path extrusionOk="0" h="2802467" w="12192000">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2" name="Google Shape;202;p4"/>
          <p:cNvSpPr txBox="1"/>
          <p:nvPr>
            <p:ph type="title"/>
          </p:nvPr>
        </p:nvSpPr>
        <p:spPr>
          <a:xfrm>
            <a:off x="1784391" y="4152321"/>
            <a:ext cx="10407600" cy="8679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EBEBEB"/>
              </a:buClr>
              <a:buSzPts val="4800"/>
              <a:buFont typeface="Century Gothic"/>
              <a:buNone/>
            </a:pPr>
            <a:r>
              <a:rPr lang="en-US" sz="4800">
                <a:solidFill>
                  <a:srgbClr val="EBEBEB"/>
                </a:solidFill>
              </a:rPr>
              <a:t>HEALTHY CASSAVA</a:t>
            </a:r>
            <a:endParaRPr sz="4800">
              <a:solidFill>
                <a:srgbClr val="EBEBEB"/>
              </a:solidFill>
            </a:endParaRPr>
          </a:p>
        </p:txBody>
      </p:sp>
      <p:sp>
        <p:nvSpPr>
          <p:cNvPr id="203" name="Google Shape;203;p4"/>
          <p:cNvSpPr txBox="1"/>
          <p:nvPr>
            <p:ph idx="1" type="body"/>
          </p:nvPr>
        </p:nvSpPr>
        <p:spPr>
          <a:xfrm>
            <a:off x="272901" y="5168376"/>
            <a:ext cx="11155500" cy="1143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solidFill>
                  <a:srgbClr val="F7F7F7"/>
                </a:solidFill>
              </a:rPr>
              <a:t>The leaves of a healthy cassava plant are typically </a:t>
            </a:r>
            <a:r>
              <a:rPr b="1" lang="en-US">
                <a:solidFill>
                  <a:srgbClr val="F7F7F7"/>
                </a:solidFill>
              </a:rPr>
              <a:t>vibrant, glossy green in color, and evenly distributed</a:t>
            </a:r>
            <a:r>
              <a:rPr lang="en-US">
                <a:solidFill>
                  <a:srgbClr val="F7F7F7"/>
                </a:solidFill>
              </a:rPr>
              <a:t>. Leaves should generally be </a:t>
            </a:r>
            <a:r>
              <a:rPr b="1" lang="en-US">
                <a:solidFill>
                  <a:srgbClr val="F7F7F7"/>
                </a:solidFill>
              </a:rPr>
              <a:t>smooth and soft</a:t>
            </a:r>
            <a:r>
              <a:rPr lang="en-US">
                <a:solidFill>
                  <a:srgbClr val="F7F7F7"/>
                </a:solidFill>
              </a:rPr>
              <a:t>.</a:t>
            </a:r>
            <a:endParaRPr cap="none">
              <a:solidFill>
                <a:srgbClr val="F7F7F7"/>
              </a:solidFill>
            </a:endParaRPr>
          </a:p>
          <a:p>
            <a:pPr indent="0" lvl="0" marL="0" rtl="0" algn="l">
              <a:spcBef>
                <a:spcPts val="0"/>
              </a:spcBef>
              <a:spcAft>
                <a:spcPts val="0"/>
              </a:spcAft>
              <a:buSzPts val="1600"/>
              <a:buNone/>
            </a:pPr>
            <a:r>
              <a:t/>
            </a:r>
            <a:endParaRPr>
              <a:solidFill>
                <a:srgbClr val="F7F7F7"/>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7" name="Shape 207"/>
        <p:cNvGrpSpPr/>
        <p:nvPr/>
      </p:nvGrpSpPr>
      <p:grpSpPr>
        <a:xfrm>
          <a:off x="0" y="0"/>
          <a:ext cx="0" cy="0"/>
          <a:chOff x="0" y="0"/>
          <a:chExt cx="0" cy="0"/>
        </a:xfrm>
      </p:grpSpPr>
      <p:pic>
        <p:nvPicPr>
          <p:cNvPr id="208" name="Google Shape;208;p5"/>
          <p:cNvPicPr preferRelativeResize="0"/>
          <p:nvPr/>
        </p:nvPicPr>
        <p:blipFill rotWithShape="1">
          <a:blip r:embed="rId4">
            <a:alphaModFix/>
          </a:blip>
          <a:srcRect b="0" l="3613" r="0" t="0"/>
          <a:stretch/>
        </p:blipFill>
        <p:spPr>
          <a:xfrm>
            <a:off x="0" y="2669685"/>
            <a:ext cx="4037012" cy="4188315"/>
          </a:xfrm>
          <a:prstGeom prst="rect">
            <a:avLst/>
          </a:prstGeom>
          <a:noFill/>
          <a:ln>
            <a:noFill/>
          </a:ln>
        </p:spPr>
      </p:pic>
      <p:pic>
        <p:nvPicPr>
          <p:cNvPr id="209" name="Google Shape;209;p5"/>
          <p:cNvPicPr preferRelativeResize="0"/>
          <p:nvPr/>
        </p:nvPicPr>
        <p:blipFill rotWithShape="1">
          <a:blip r:embed="rId5">
            <a:alphaModFix/>
          </a:blip>
          <a:srcRect b="0" l="35640" r="0" t="0"/>
          <a:stretch/>
        </p:blipFill>
        <p:spPr>
          <a:xfrm>
            <a:off x="0" y="2892347"/>
            <a:ext cx="1522412" cy="2365453"/>
          </a:xfrm>
          <a:prstGeom prst="rect">
            <a:avLst/>
          </a:prstGeom>
          <a:noFill/>
          <a:ln>
            <a:noFill/>
          </a:ln>
        </p:spPr>
      </p:pic>
      <p:sp>
        <p:nvSpPr>
          <p:cNvPr id="210" name="Google Shape;210;p5"/>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b="50%" l="50%" r="50%" t="50%"/>
            </a:path>
            <a:tileRect/>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211" name="Google Shape;211;p5"/>
          <p:cNvPicPr preferRelativeResize="0"/>
          <p:nvPr/>
        </p:nvPicPr>
        <p:blipFill rotWithShape="1">
          <a:blip r:embed="rId6">
            <a:alphaModFix/>
          </a:blip>
          <a:srcRect b="0" l="0" r="0" t="28812"/>
          <a:stretch/>
        </p:blipFill>
        <p:spPr>
          <a:xfrm>
            <a:off x="7999412" y="0"/>
            <a:ext cx="1603387" cy="1141407"/>
          </a:xfrm>
          <a:prstGeom prst="rect">
            <a:avLst/>
          </a:prstGeom>
          <a:noFill/>
          <a:ln>
            <a:noFill/>
          </a:ln>
        </p:spPr>
      </p:pic>
      <p:pic>
        <p:nvPicPr>
          <p:cNvPr id="212" name="Google Shape;212;p5"/>
          <p:cNvPicPr preferRelativeResize="0"/>
          <p:nvPr/>
        </p:nvPicPr>
        <p:blipFill rotWithShape="1">
          <a:blip r:embed="rId7">
            <a:alphaModFix/>
          </a:blip>
          <a:srcRect b="23320" l="0" r="0" t="0"/>
          <a:stretch/>
        </p:blipFill>
        <p:spPr>
          <a:xfrm>
            <a:off x="8605878" y="6096000"/>
            <a:ext cx="993734" cy="762000"/>
          </a:xfrm>
          <a:prstGeom prst="rect">
            <a:avLst/>
          </a:prstGeom>
          <a:noFill/>
          <a:ln>
            <a:noFill/>
          </a:ln>
        </p:spPr>
      </p:pic>
      <p:sp>
        <p:nvSpPr>
          <p:cNvPr id="213" name="Google Shape;213;p5"/>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descr="Molecular epidemiology of cassava mosaic disease in Madagascar ..." id="214" name="Google Shape;214;p5"/>
          <p:cNvPicPr preferRelativeResize="0"/>
          <p:nvPr/>
        </p:nvPicPr>
        <p:blipFill rotWithShape="1">
          <a:blip r:embed="rId8">
            <a:alphaModFix/>
          </a:blip>
          <a:srcRect b="-2" l="3864" r="15688" t="0"/>
          <a:stretch/>
        </p:blipFill>
        <p:spPr>
          <a:xfrm>
            <a:off x="1" y="-5"/>
            <a:ext cx="6095999" cy="5020241"/>
          </a:xfrm>
          <a:custGeom>
            <a:rect b="b" l="l" r="r" t="t"/>
            <a:pathLst>
              <a:path extrusionOk="0" h="5020241" w="6095999">
                <a:moveTo>
                  <a:pt x="0" y="0"/>
                </a:moveTo>
                <a:lnTo>
                  <a:pt x="6095999" y="0"/>
                </a:lnTo>
                <a:lnTo>
                  <a:pt x="6095999"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a:noFill/>
          <a:ln>
            <a:noFill/>
          </a:ln>
        </p:spPr>
      </p:pic>
      <p:pic>
        <p:nvPicPr>
          <p:cNvPr descr="| Plantwise Knowledge Bank" id="215" name="Google Shape;215;p5"/>
          <p:cNvPicPr preferRelativeResize="0"/>
          <p:nvPr/>
        </p:nvPicPr>
        <p:blipFill rotWithShape="1">
          <a:blip r:embed="rId9">
            <a:alphaModFix/>
          </a:blip>
          <a:srcRect b="0" l="0" r="246" t="0"/>
          <a:stretch/>
        </p:blipFill>
        <p:spPr>
          <a:xfrm>
            <a:off x="6096000" y="9403"/>
            <a:ext cx="6095696" cy="4583103"/>
          </a:xfrm>
          <a:custGeom>
            <a:rect b="b" l="l" r="r" t="t"/>
            <a:pathLst>
              <a:path extrusionOk="0" h="4583103" w="6095696">
                <a:moveTo>
                  <a:pt x="0" y="0"/>
                </a:moveTo>
                <a:lnTo>
                  <a:pt x="6095696" y="0"/>
                </a:lnTo>
                <a:lnTo>
                  <a:pt x="6095696" y="4057991"/>
                </a:lnTo>
                <a:lnTo>
                  <a:pt x="5818946" y="4110187"/>
                </a:lnTo>
                <a:lnTo>
                  <a:pt x="5543413" y="4159931"/>
                </a:lnTo>
                <a:lnTo>
                  <a:pt x="5266662" y="4208624"/>
                </a:lnTo>
                <a:lnTo>
                  <a:pt x="4988691" y="4250310"/>
                </a:lnTo>
                <a:lnTo>
                  <a:pt x="4711940" y="4292347"/>
                </a:lnTo>
                <a:lnTo>
                  <a:pt x="4433969" y="4331582"/>
                </a:lnTo>
                <a:lnTo>
                  <a:pt x="4159656" y="4365211"/>
                </a:lnTo>
                <a:lnTo>
                  <a:pt x="3881685" y="4397089"/>
                </a:lnTo>
                <a:lnTo>
                  <a:pt x="3604934" y="4426165"/>
                </a:lnTo>
                <a:lnTo>
                  <a:pt x="3333059" y="4451387"/>
                </a:lnTo>
                <a:lnTo>
                  <a:pt x="3057527" y="4476609"/>
                </a:lnTo>
                <a:lnTo>
                  <a:pt x="2785652" y="4497628"/>
                </a:lnTo>
                <a:lnTo>
                  <a:pt x="2513777" y="4514092"/>
                </a:lnTo>
                <a:lnTo>
                  <a:pt x="2243122" y="4531258"/>
                </a:lnTo>
                <a:lnTo>
                  <a:pt x="1974904" y="4545620"/>
                </a:lnTo>
                <a:lnTo>
                  <a:pt x="1709125" y="4555779"/>
                </a:lnTo>
                <a:lnTo>
                  <a:pt x="1443346" y="4564537"/>
                </a:lnTo>
                <a:lnTo>
                  <a:pt x="1180006" y="4572944"/>
                </a:lnTo>
                <a:lnTo>
                  <a:pt x="920323" y="4576798"/>
                </a:lnTo>
                <a:lnTo>
                  <a:pt x="660640" y="4581001"/>
                </a:lnTo>
                <a:lnTo>
                  <a:pt x="404614" y="4583103"/>
                </a:lnTo>
                <a:lnTo>
                  <a:pt x="151027" y="4581001"/>
                </a:lnTo>
                <a:lnTo>
                  <a:pt x="0" y="4581001"/>
                </a:lnTo>
                <a:close/>
              </a:path>
            </a:pathLst>
          </a:custGeom>
          <a:noFill/>
          <a:ln>
            <a:noFill/>
          </a:ln>
        </p:spPr>
      </p:pic>
      <p:sp>
        <p:nvSpPr>
          <p:cNvPr id="216" name="Google Shape;216;p5"/>
          <p:cNvSpPr/>
          <p:nvPr/>
        </p:nvSpPr>
        <p:spPr>
          <a:xfrm>
            <a:off x="8719939" y="3753695"/>
            <a:ext cx="3472060" cy="825932"/>
          </a:xfrm>
          <a:custGeom>
            <a:rect b="b" l="l" r="r" t="t"/>
            <a:pathLst>
              <a:path extrusionOk="0" h="825932" w="3472060">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lt2">
              <a:alpha val="4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7" name="Google Shape;217;p5"/>
          <p:cNvSpPr/>
          <p:nvPr/>
        </p:nvSpPr>
        <p:spPr>
          <a:xfrm>
            <a:off x="0" y="3299224"/>
            <a:ext cx="12192000" cy="3538115"/>
          </a:xfrm>
          <a:custGeom>
            <a:rect b="b" l="l" r="r" t="t"/>
            <a:pathLst>
              <a:path extrusionOk="0" h="2802467" w="12192000">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8" name="Google Shape;218;p5"/>
          <p:cNvSpPr txBox="1"/>
          <p:nvPr>
            <p:ph type="title"/>
          </p:nvPr>
        </p:nvSpPr>
        <p:spPr>
          <a:xfrm>
            <a:off x="636916" y="4052896"/>
            <a:ext cx="10407600" cy="8679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EBEBEB"/>
              </a:buClr>
              <a:buSzPts val="4800"/>
              <a:buFont typeface="Century Gothic"/>
              <a:buNone/>
            </a:pPr>
            <a:r>
              <a:rPr lang="en-US" sz="4800">
                <a:solidFill>
                  <a:srgbClr val="EBEBEB"/>
                </a:solidFill>
              </a:rPr>
              <a:t>Cassava Mosaic Disease(CMD)</a:t>
            </a:r>
            <a:endParaRPr sz="4800">
              <a:solidFill>
                <a:srgbClr val="EBEBEB"/>
              </a:solidFill>
            </a:endParaRPr>
          </a:p>
        </p:txBody>
      </p:sp>
      <p:sp>
        <p:nvSpPr>
          <p:cNvPr id="219" name="Google Shape;219;p5"/>
          <p:cNvSpPr txBox="1"/>
          <p:nvPr>
            <p:ph idx="1" type="body"/>
          </p:nvPr>
        </p:nvSpPr>
        <p:spPr>
          <a:xfrm>
            <a:off x="636925" y="5257800"/>
            <a:ext cx="11047200" cy="12669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spcBef>
                <a:spcPts val="1000"/>
              </a:spcBef>
              <a:spcAft>
                <a:spcPts val="0"/>
              </a:spcAft>
              <a:buNone/>
            </a:pPr>
            <a:r>
              <a:rPr lang="en-US" sz="7200"/>
              <a:t>CMD is a predominantly found disease that plagues the Cassava crop.</a:t>
            </a:r>
            <a:endParaRPr sz="7200"/>
          </a:p>
          <a:p>
            <a:pPr indent="0" lvl="0" marL="0" rtl="0" algn="l">
              <a:spcBef>
                <a:spcPts val="1000"/>
              </a:spcBef>
              <a:spcAft>
                <a:spcPts val="0"/>
              </a:spcAft>
              <a:buNone/>
            </a:pPr>
            <a:r>
              <a:rPr lang="en-US" sz="7200"/>
              <a:t>The plants and leaves show stunted growth due to the infection.</a:t>
            </a:r>
            <a:endParaRPr sz="7200"/>
          </a:p>
          <a:p>
            <a:pPr indent="0" lvl="0" marL="0" rtl="0" algn="l">
              <a:spcBef>
                <a:spcPts val="1000"/>
              </a:spcBef>
              <a:spcAft>
                <a:spcPts val="0"/>
              </a:spcAft>
              <a:buNone/>
            </a:pPr>
            <a:r>
              <a:rPr lang="en-US" sz="7200"/>
              <a:t>Its features include the formation of mosaic-like patterns on the leaves, yellow-white spots, color change and deformities on the leaves.</a:t>
            </a:r>
            <a:endParaRPr sz="7200"/>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 name="Shape 223"/>
        <p:cNvGrpSpPr/>
        <p:nvPr/>
      </p:nvGrpSpPr>
      <p:grpSpPr>
        <a:xfrm>
          <a:off x="0" y="0"/>
          <a:ext cx="0" cy="0"/>
          <a:chOff x="0" y="0"/>
          <a:chExt cx="0" cy="0"/>
        </a:xfrm>
      </p:grpSpPr>
      <p:pic>
        <p:nvPicPr>
          <p:cNvPr id="224" name="Google Shape;224;p6"/>
          <p:cNvPicPr preferRelativeResize="0"/>
          <p:nvPr/>
        </p:nvPicPr>
        <p:blipFill rotWithShape="1">
          <a:blip r:embed="rId4">
            <a:alphaModFix/>
          </a:blip>
          <a:srcRect b="0" l="3613" r="0" t="0"/>
          <a:stretch/>
        </p:blipFill>
        <p:spPr>
          <a:xfrm>
            <a:off x="0" y="2669685"/>
            <a:ext cx="4037012" cy="4188315"/>
          </a:xfrm>
          <a:prstGeom prst="rect">
            <a:avLst/>
          </a:prstGeom>
          <a:noFill/>
          <a:ln>
            <a:noFill/>
          </a:ln>
        </p:spPr>
      </p:pic>
      <p:pic>
        <p:nvPicPr>
          <p:cNvPr id="225" name="Google Shape;225;p6"/>
          <p:cNvPicPr preferRelativeResize="0"/>
          <p:nvPr/>
        </p:nvPicPr>
        <p:blipFill rotWithShape="1">
          <a:blip r:embed="rId5">
            <a:alphaModFix/>
          </a:blip>
          <a:srcRect b="0" l="35640" r="0" t="0"/>
          <a:stretch/>
        </p:blipFill>
        <p:spPr>
          <a:xfrm>
            <a:off x="0" y="2892347"/>
            <a:ext cx="1522412" cy="2365453"/>
          </a:xfrm>
          <a:prstGeom prst="rect">
            <a:avLst/>
          </a:prstGeom>
          <a:noFill/>
          <a:ln>
            <a:noFill/>
          </a:ln>
        </p:spPr>
      </p:pic>
      <p:sp>
        <p:nvSpPr>
          <p:cNvPr id="226" name="Google Shape;226;p6"/>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b="50%" l="50%" r="50%" t="50%"/>
            </a:path>
            <a:tileRect/>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227" name="Google Shape;227;p6"/>
          <p:cNvPicPr preferRelativeResize="0"/>
          <p:nvPr/>
        </p:nvPicPr>
        <p:blipFill rotWithShape="1">
          <a:blip r:embed="rId6">
            <a:alphaModFix/>
          </a:blip>
          <a:srcRect b="0" l="0" r="0" t="28812"/>
          <a:stretch/>
        </p:blipFill>
        <p:spPr>
          <a:xfrm>
            <a:off x="7999412" y="0"/>
            <a:ext cx="1603387" cy="1141407"/>
          </a:xfrm>
          <a:prstGeom prst="rect">
            <a:avLst/>
          </a:prstGeom>
          <a:noFill/>
          <a:ln>
            <a:noFill/>
          </a:ln>
        </p:spPr>
      </p:pic>
      <p:pic>
        <p:nvPicPr>
          <p:cNvPr id="228" name="Google Shape;228;p6"/>
          <p:cNvPicPr preferRelativeResize="0"/>
          <p:nvPr/>
        </p:nvPicPr>
        <p:blipFill rotWithShape="1">
          <a:blip r:embed="rId7">
            <a:alphaModFix/>
          </a:blip>
          <a:srcRect b="23320" l="0" r="0" t="0"/>
          <a:stretch/>
        </p:blipFill>
        <p:spPr>
          <a:xfrm>
            <a:off x="8605878" y="6096000"/>
            <a:ext cx="993734" cy="762000"/>
          </a:xfrm>
          <a:prstGeom prst="rect">
            <a:avLst/>
          </a:prstGeom>
          <a:noFill/>
          <a:ln>
            <a:noFill/>
          </a:ln>
        </p:spPr>
      </p:pic>
      <p:sp>
        <p:nvSpPr>
          <p:cNvPr id="229" name="Google Shape;229;p6"/>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descr="Mapping a Path to Improved Cassava Production" id="230" name="Google Shape;230;p6"/>
          <p:cNvPicPr preferRelativeResize="0"/>
          <p:nvPr/>
        </p:nvPicPr>
        <p:blipFill rotWithShape="1">
          <a:blip r:embed="rId8">
            <a:alphaModFix/>
          </a:blip>
          <a:srcRect b="0" l="0" r="246" t="0"/>
          <a:stretch/>
        </p:blipFill>
        <p:spPr>
          <a:xfrm>
            <a:off x="6096000" y="9403"/>
            <a:ext cx="6095696" cy="4583103"/>
          </a:xfrm>
          <a:custGeom>
            <a:rect b="b" l="l" r="r" t="t"/>
            <a:pathLst>
              <a:path extrusionOk="0" h="4583103" w="6095696">
                <a:moveTo>
                  <a:pt x="0" y="0"/>
                </a:moveTo>
                <a:lnTo>
                  <a:pt x="6095696" y="0"/>
                </a:lnTo>
                <a:lnTo>
                  <a:pt x="6095696" y="4057991"/>
                </a:lnTo>
                <a:lnTo>
                  <a:pt x="5818946" y="4110187"/>
                </a:lnTo>
                <a:lnTo>
                  <a:pt x="5543413" y="4159931"/>
                </a:lnTo>
                <a:lnTo>
                  <a:pt x="5266662" y="4208624"/>
                </a:lnTo>
                <a:lnTo>
                  <a:pt x="4988691" y="4250310"/>
                </a:lnTo>
                <a:lnTo>
                  <a:pt x="4711940" y="4292347"/>
                </a:lnTo>
                <a:lnTo>
                  <a:pt x="4433969" y="4331582"/>
                </a:lnTo>
                <a:lnTo>
                  <a:pt x="4159656" y="4365211"/>
                </a:lnTo>
                <a:lnTo>
                  <a:pt x="3881685" y="4397089"/>
                </a:lnTo>
                <a:lnTo>
                  <a:pt x="3604934" y="4426165"/>
                </a:lnTo>
                <a:lnTo>
                  <a:pt x="3333059" y="4451387"/>
                </a:lnTo>
                <a:lnTo>
                  <a:pt x="3057527" y="4476609"/>
                </a:lnTo>
                <a:lnTo>
                  <a:pt x="2785652" y="4497628"/>
                </a:lnTo>
                <a:lnTo>
                  <a:pt x="2513777" y="4514092"/>
                </a:lnTo>
                <a:lnTo>
                  <a:pt x="2243122" y="4531258"/>
                </a:lnTo>
                <a:lnTo>
                  <a:pt x="1974904" y="4545620"/>
                </a:lnTo>
                <a:lnTo>
                  <a:pt x="1709125" y="4555779"/>
                </a:lnTo>
                <a:lnTo>
                  <a:pt x="1443346" y="4564537"/>
                </a:lnTo>
                <a:lnTo>
                  <a:pt x="1180006" y="4572944"/>
                </a:lnTo>
                <a:lnTo>
                  <a:pt x="920323" y="4576798"/>
                </a:lnTo>
                <a:lnTo>
                  <a:pt x="660640" y="4581001"/>
                </a:lnTo>
                <a:lnTo>
                  <a:pt x="404614" y="4583103"/>
                </a:lnTo>
                <a:lnTo>
                  <a:pt x="151027" y="4581001"/>
                </a:lnTo>
                <a:lnTo>
                  <a:pt x="0" y="4581001"/>
                </a:lnTo>
                <a:close/>
              </a:path>
            </a:pathLst>
          </a:custGeom>
          <a:noFill/>
          <a:ln>
            <a:noFill/>
          </a:ln>
        </p:spPr>
      </p:pic>
      <p:sp>
        <p:nvSpPr>
          <p:cNvPr id="231" name="Google Shape;231;p6"/>
          <p:cNvSpPr/>
          <p:nvPr/>
        </p:nvSpPr>
        <p:spPr>
          <a:xfrm>
            <a:off x="8719939" y="3753695"/>
            <a:ext cx="3472060" cy="825932"/>
          </a:xfrm>
          <a:custGeom>
            <a:rect b="b" l="l" r="r" t="t"/>
            <a:pathLst>
              <a:path extrusionOk="0" h="825932" w="3472060">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lt2">
              <a:alpha val="4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2" name="Google Shape;232;p6"/>
          <p:cNvSpPr/>
          <p:nvPr/>
        </p:nvSpPr>
        <p:spPr>
          <a:xfrm>
            <a:off x="0" y="3168900"/>
            <a:ext cx="12192000" cy="3692250"/>
          </a:xfrm>
          <a:custGeom>
            <a:rect b="b" l="l" r="r" t="t"/>
            <a:pathLst>
              <a:path extrusionOk="0" h="2802467" w="12192000">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3" name="Google Shape;233;p6"/>
          <p:cNvSpPr txBox="1"/>
          <p:nvPr>
            <p:ph type="title"/>
          </p:nvPr>
        </p:nvSpPr>
        <p:spPr>
          <a:xfrm>
            <a:off x="596851" y="3918850"/>
            <a:ext cx="10998300" cy="8679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rgbClr val="EBEBEB"/>
              </a:buClr>
              <a:buSzPct val="100000"/>
              <a:buFont typeface="Century Gothic"/>
              <a:buNone/>
            </a:pPr>
            <a:r>
              <a:rPr lang="en-US" sz="4800">
                <a:solidFill>
                  <a:srgbClr val="EBEBEB"/>
                </a:solidFill>
              </a:rPr>
              <a:t>Cassava Green Mottle Disease(CGMD)</a:t>
            </a:r>
            <a:endParaRPr sz="4800">
              <a:solidFill>
                <a:srgbClr val="EBEBEB"/>
              </a:solidFill>
            </a:endParaRPr>
          </a:p>
        </p:txBody>
      </p:sp>
      <p:sp>
        <p:nvSpPr>
          <p:cNvPr id="234" name="Google Shape;234;p6"/>
          <p:cNvSpPr txBox="1"/>
          <p:nvPr>
            <p:ph idx="1" type="body"/>
          </p:nvPr>
        </p:nvSpPr>
        <p:spPr>
          <a:xfrm>
            <a:off x="515400" y="4900775"/>
            <a:ext cx="11299200" cy="16401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90000"/>
              </a:lnSpc>
              <a:spcBef>
                <a:spcPts val="0"/>
              </a:spcBef>
              <a:spcAft>
                <a:spcPts val="0"/>
              </a:spcAft>
              <a:buSzPct val="42261"/>
              <a:buNone/>
            </a:pPr>
            <a:r>
              <a:rPr lang="en-US" sz="2602"/>
              <a:t>CGDM causes the formation of white spots on the surface of leaves and leads to a loss of chlorophyll during proliferation.</a:t>
            </a:r>
            <a:endParaRPr sz="2602"/>
          </a:p>
          <a:p>
            <a:pPr indent="0" lvl="0" marL="0" rtl="0" algn="l">
              <a:lnSpc>
                <a:spcPct val="90000"/>
              </a:lnSpc>
              <a:spcBef>
                <a:spcPts val="0"/>
              </a:spcBef>
              <a:spcAft>
                <a:spcPts val="0"/>
              </a:spcAft>
              <a:buSzPct val="42261"/>
              <a:buNone/>
            </a:pPr>
            <a:r>
              <a:t/>
            </a:r>
            <a:endParaRPr sz="2602"/>
          </a:p>
          <a:p>
            <a:pPr indent="0" lvl="0" marL="0" rtl="0" algn="l">
              <a:lnSpc>
                <a:spcPct val="90000"/>
              </a:lnSpc>
              <a:spcBef>
                <a:spcPts val="0"/>
              </a:spcBef>
              <a:spcAft>
                <a:spcPts val="0"/>
              </a:spcAft>
              <a:buSzPct val="42261"/>
              <a:buNone/>
            </a:pPr>
            <a:r>
              <a:rPr lang="en-US" sz="2602"/>
              <a:t>Depending on the severity of the infection, leaves may </a:t>
            </a:r>
            <a:r>
              <a:rPr b="1" lang="en-US" sz="2602"/>
              <a:t>dry, shrink, and fall prematurely.</a:t>
            </a:r>
            <a:endParaRPr b="1" sz="2602"/>
          </a:p>
          <a:p>
            <a:pPr indent="0" lvl="0" marL="0" rtl="0" algn="l">
              <a:lnSpc>
                <a:spcPct val="90000"/>
              </a:lnSpc>
              <a:spcBef>
                <a:spcPts val="0"/>
              </a:spcBef>
              <a:spcAft>
                <a:spcPts val="0"/>
              </a:spcAft>
              <a:buSzPct val="42261"/>
              <a:buNone/>
            </a:pPr>
            <a:r>
              <a:t/>
            </a:r>
            <a:endParaRPr sz="2602"/>
          </a:p>
          <a:p>
            <a:pPr indent="0" lvl="0" marL="0" rtl="0" algn="l">
              <a:lnSpc>
                <a:spcPct val="90000"/>
              </a:lnSpc>
              <a:spcBef>
                <a:spcPts val="0"/>
              </a:spcBef>
              <a:spcAft>
                <a:spcPts val="0"/>
              </a:spcAft>
              <a:buSzPct val="42261"/>
              <a:buNone/>
            </a:pPr>
            <a:r>
              <a:rPr lang="en-US" sz="2602"/>
              <a:t>The main features to use for detection are </a:t>
            </a:r>
            <a:r>
              <a:rPr b="1" lang="en-US" sz="2602"/>
              <a:t>white spots, mottled leaves</a:t>
            </a:r>
            <a:r>
              <a:rPr lang="en-US" sz="2602"/>
              <a:t> and/or</a:t>
            </a:r>
            <a:r>
              <a:rPr b="1" lang="en-US" sz="2602"/>
              <a:t> stunted leaves.</a:t>
            </a:r>
            <a:endParaRPr b="1" sz="2602"/>
          </a:p>
          <a:p>
            <a:pPr indent="0" lvl="0" marL="0" rtl="0" algn="l">
              <a:lnSpc>
                <a:spcPct val="90000"/>
              </a:lnSpc>
              <a:spcBef>
                <a:spcPts val="0"/>
              </a:spcBef>
              <a:spcAft>
                <a:spcPts val="0"/>
              </a:spcAft>
              <a:buClr>
                <a:schemeClr val="dk1"/>
              </a:buClr>
              <a:buSzPct val="55000"/>
              <a:buFont typeface="Arial"/>
              <a:buNone/>
            </a:pPr>
            <a:r>
              <a:t/>
            </a:r>
            <a:endParaRPr b="1"/>
          </a:p>
          <a:p>
            <a:pPr indent="0" lvl="0" marL="0" rtl="0" algn="l">
              <a:lnSpc>
                <a:spcPct val="90000"/>
              </a:lnSpc>
              <a:spcBef>
                <a:spcPts val="0"/>
              </a:spcBef>
              <a:spcAft>
                <a:spcPts val="0"/>
              </a:spcAft>
              <a:buSzPct val="64000"/>
              <a:buNone/>
            </a:pPr>
            <a:r>
              <a:t/>
            </a:r>
            <a:endParaRPr/>
          </a:p>
        </p:txBody>
      </p:sp>
      <p:pic>
        <p:nvPicPr>
          <p:cNvPr id="235" name="Google Shape;235;p6"/>
          <p:cNvPicPr preferRelativeResize="0"/>
          <p:nvPr/>
        </p:nvPicPr>
        <p:blipFill>
          <a:blip r:embed="rId9">
            <a:alphaModFix/>
          </a:blip>
          <a:stretch>
            <a:fillRect/>
          </a:stretch>
        </p:blipFill>
        <p:spPr>
          <a:xfrm>
            <a:off x="706250" y="136125"/>
            <a:ext cx="5243876" cy="3932900"/>
          </a:xfrm>
          <a:prstGeom prst="rect">
            <a:avLst/>
          </a:prstGeom>
          <a:noFill/>
          <a:ln>
            <a:noFill/>
          </a:ln>
        </p:spPr>
      </p:pic>
    </p:spTree>
  </p:cSld>
  <p:clrMapOvr>
    <a:masterClrMapping/>
  </p:clrMapOvr>
  <p:transition spd="slow" p14:dur="800">
    <p:circl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pic>
        <p:nvPicPr>
          <p:cNvPr id="240" name="Google Shape;240;p7"/>
          <p:cNvPicPr preferRelativeResize="0"/>
          <p:nvPr/>
        </p:nvPicPr>
        <p:blipFill rotWithShape="1">
          <a:blip r:embed="rId4">
            <a:alphaModFix/>
          </a:blip>
          <a:srcRect b="0" l="3613" r="0" t="0"/>
          <a:stretch/>
        </p:blipFill>
        <p:spPr>
          <a:xfrm>
            <a:off x="0" y="2669685"/>
            <a:ext cx="4037012" cy="4188315"/>
          </a:xfrm>
          <a:prstGeom prst="rect">
            <a:avLst/>
          </a:prstGeom>
          <a:noFill/>
          <a:ln>
            <a:noFill/>
          </a:ln>
        </p:spPr>
      </p:pic>
      <p:pic>
        <p:nvPicPr>
          <p:cNvPr id="241" name="Google Shape;241;p7"/>
          <p:cNvPicPr preferRelativeResize="0"/>
          <p:nvPr/>
        </p:nvPicPr>
        <p:blipFill rotWithShape="1">
          <a:blip r:embed="rId5">
            <a:alphaModFix/>
          </a:blip>
          <a:srcRect b="0" l="35640" r="0" t="0"/>
          <a:stretch/>
        </p:blipFill>
        <p:spPr>
          <a:xfrm>
            <a:off x="0" y="2892347"/>
            <a:ext cx="1522412" cy="2365453"/>
          </a:xfrm>
          <a:prstGeom prst="rect">
            <a:avLst/>
          </a:prstGeom>
          <a:noFill/>
          <a:ln>
            <a:noFill/>
          </a:ln>
        </p:spPr>
      </p:pic>
      <p:sp>
        <p:nvSpPr>
          <p:cNvPr id="242" name="Google Shape;242;p7"/>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b="50%" l="50%" r="50%" t="50%"/>
            </a:path>
            <a:tileRect/>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243" name="Google Shape;243;p7"/>
          <p:cNvPicPr preferRelativeResize="0"/>
          <p:nvPr/>
        </p:nvPicPr>
        <p:blipFill rotWithShape="1">
          <a:blip r:embed="rId6">
            <a:alphaModFix/>
          </a:blip>
          <a:srcRect b="0" l="0" r="0" t="28812"/>
          <a:stretch/>
        </p:blipFill>
        <p:spPr>
          <a:xfrm>
            <a:off x="7999412" y="0"/>
            <a:ext cx="1603387" cy="1141407"/>
          </a:xfrm>
          <a:prstGeom prst="rect">
            <a:avLst/>
          </a:prstGeom>
          <a:noFill/>
          <a:ln>
            <a:noFill/>
          </a:ln>
        </p:spPr>
      </p:pic>
      <p:pic>
        <p:nvPicPr>
          <p:cNvPr id="244" name="Google Shape;244;p7"/>
          <p:cNvPicPr preferRelativeResize="0"/>
          <p:nvPr/>
        </p:nvPicPr>
        <p:blipFill rotWithShape="1">
          <a:blip r:embed="rId7">
            <a:alphaModFix/>
          </a:blip>
          <a:srcRect b="23320" l="0" r="0" t="0"/>
          <a:stretch/>
        </p:blipFill>
        <p:spPr>
          <a:xfrm>
            <a:off x="8605878" y="6096000"/>
            <a:ext cx="993734" cy="762000"/>
          </a:xfrm>
          <a:prstGeom prst="rect">
            <a:avLst/>
          </a:prstGeom>
          <a:noFill/>
          <a:ln>
            <a:noFill/>
          </a:ln>
        </p:spPr>
      </p:pic>
      <p:sp>
        <p:nvSpPr>
          <p:cNvPr id="245" name="Google Shape;245;p7"/>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46" name="Google Shape;246;p7"/>
          <p:cNvSpPr/>
          <p:nvPr/>
        </p:nvSpPr>
        <p:spPr>
          <a:xfrm>
            <a:off x="8719939" y="3753695"/>
            <a:ext cx="3472060" cy="825932"/>
          </a:xfrm>
          <a:custGeom>
            <a:rect b="b" l="l" r="r" t="t"/>
            <a:pathLst>
              <a:path extrusionOk="0" h="825932" w="3472060">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lt2">
              <a:alpha val="4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47" name="Google Shape;247;p7"/>
          <p:cNvSpPr/>
          <p:nvPr/>
        </p:nvSpPr>
        <p:spPr>
          <a:xfrm>
            <a:off x="0" y="3625025"/>
            <a:ext cx="12192000" cy="3229843"/>
          </a:xfrm>
          <a:custGeom>
            <a:rect b="b" l="l" r="r" t="t"/>
            <a:pathLst>
              <a:path extrusionOk="0" h="2802467" w="12192000">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48" name="Google Shape;248;p7"/>
          <p:cNvSpPr txBox="1"/>
          <p:nvPr>
            <p:ph type="title"/>
          </p:nvPr>
        </p:nvSpPr>
        <p:spPr>
          <a:xfrm>
            <a:off x="892200" y="4280851"/>
            <a:ext cx="10042500" cy="8259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EBEBEB"/>
              </a:buClr>
              <a:buSzPts val="4800"/>
              <a:buFont typeface="Century Gothic"/>
              <a:buNone/>
            </a:pPr>
            <a:r>
              <a:rPr lang="en-US" sz="4800">
                <a:solidFill>
                  <a:srgbClr val="EBEBEB"/>
                </a:solidFill>
              </a:rPr>
              <a:t>Cassava Brown Streak Disease</a:t>
            </a:r>
            <a:endParaRPr sz="4800">
              <a:solidFill>
                <a:srgbClr val="EBEBEB"/>
              </a:solidFill>
            </a:endParaRPr>
          </a:p>
        </p:txBody>
      </p:sp>
      <p:sp>
        <p:nvSpPr>
          <p:cNvPr id="249" name="Google Shape;249;p7"/>
          <p:cNvSpPr txBox="1"/>
          <p:nvPr>
            <p:ph idx="1" type="body"/>
          </p:nvPr>
        </p:nvSpPr>
        <p:spPr>
          <a:xfrm>
            <a:off x="281275" y="5148747"/>
            <a:ext cx="11696100" cy="14409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SzPct val="67368"/>
              <a:buNone/>
            </a:pPr>
            <a:r>
              <a:rPr lang="en-US" sz="1900">
                <a:solidFill>
                  <a:srgbClr val="F7F7F7"/>
                </a:solidFill>
              </a:rPr>
              <a:t>CBSD adversely affects the cassava plant. Whiteflies, arguably the most damaging insect pests, are vectors of the virus. </a:t>
            </a:r>
            <a:endParaRPr sz="1900">
              <a:solidFill>
                <a:srgbClr val="F7F7F7"/>
              </a:solidFill>
            </a:endParaRPr>
          </a:p>
          <a:p>
            <a:pPr indent="0" lvl="0" marL="0" rtl="0" algn="l">
              <a:lnSpc>
                <a:spcPct val="90000"/>
              </a:lnSpc>
              <a:spcBef>
                <a:spcPts val="0"/>
              </a:spcBef>
              <a:spcAft>
                <a:spcPts val="0"/>
              </a:spcAft>
              <a:buSzPct val="67368"/>
              <a:buNone/>
            </a:pPr>
            <a:r>
              <a:rPr lang="en-US" sz="1900">
                <a:solidFill>
                  <a:srgbClr val="F7F7F7"/>
                </a:solidFill>
              </a:rPr>
              <a:t>In the early stages of infection, CBSD symptoms appear as yellow striped patches amidst the usual green color.Over time, these yellow spots grow and merge to form larger yellow spots and the leaves become mottled.</a:t>
            </a:r>
            <a:endParaRPr sz="1900">
              <a:solidFill>
                <a:srgbClr val="F7F7F7"/>
              </a:solidFill>
            </a:endParaRPr>
          </a:p>
          <a:p>
            <a:pPr indent="0" lvl="0" marL="0" rtl="0" algn="l">
              <a:lnSpc>
                <a:spcPct val="90000"/>
              </a:lnSpc>
              <a:spcBef>
                <a:spcPts val="0"/>
              </a:spcBef>
              <a:spcAft>
                <a:spcPts val="0"/>
              </a:spcAft>
              <a:buSzPct val="67368"/>
              <a:buNone/>
            </a:pPr>
            <a:r>
              <a:t/>
            </a:r>
            <a:endParaRPr sz="1900">
              <a:solidFill>
                <a:srgbClr val="F7F7F7"/>
              </a:solidFill>
            </a:endParaRPr>
          </a:p>
          <a:p>
            <a:pPr indent="0" lvl="0" marL="0" rtl="0" algn="l">
              <a:lnSpc>
                <a:spcPct val="90000"/>
              </a:lnSpc>
              <a:spcBef>
                <a:spcPts val="0"/>
              </a:spcBef>
              <a:spcAft>
                <a:spcPts val="0"/>
              </a:spcAft>
              <a:buSzPct val="67368"/>
              <a:buNone/>
            </a:pPr>
            <a:r>
              <a:rPr lang="en-US" sz="1900">
                <a:solidFill>
                  <a:srgbClr val="F7F7F7"/>
                </a:solidFill>
              </a:rPr>
              <a:t>Basic features to be used for classification; yellow spots, dark streaks on the stem and stunted leaves/roots.</a:t>
            </a:r>
            <a:endParaRPr sz="1900">
              <a:solidFill>
                <a:srgbClr val="F7F7F7"/>
              </a:solidFill>
            </a:endParaRPr>
          </a:p>
          <a:p>
            <a:pPr indent="0" lvl="0" marL="0" rtl="0" algn="l">
              <a:lnSpc>
                <a:spcPct val="90000"/>
              </a:lnSpc>
              <a:spcBef>
                <a:spcPts val="0"/>
              </a:spcBef>
              <a:spcAft>
                <a:spcPts val="0"/>
              </a:spcAft>
              <a:buSzPct val="80000"/>
              <a:buNone/>
            </a:pPr>
            <a:r>
              <a:t/>
            </a:r>
            <a:endParaRPr sz="1600">
              <a:solidFill>
                <a:srgbClr val="F7F7F7"/>
              </a:solidFill>
            </a:endParaRPr>
          </a:p>
          <a:p>
            <a:pPr indent="0" lvl="0" marL="0" rtl="0" algn="l">
              <a:lnSpc>
                <a:spcPct val="90000"/>
              </a:lnSpc>
              <a:spcBef>
                <a:spcPts val="0"/>
              </a:spcBef>
              <a:spcAft>
                <a:spcPts val="0"/>
              </a:spcAft>
              <a:buSzPct val="80000"/>
              <a:buNone/>
            </a:pPr>
            <a:r>
              <a:t/>
            </a:r>
            <a:endParaRPr sz="1600">
              <a:solidFill>
                <a:srgbClr val="F7F7F7"/>
              </a:solidFill>
            </a:endParaRPr>
          </a:p>
        </p:txBody>
      </p:sp>
      <p:pic>
        <p:nvPicPr>
          <p:cNvPr id="250" name="Google Shape;250;p7"/>
          <p:cNvPicPr preferRelativeResize="0"/>
          <p:nvPr/>
        </p:nvPicPr>
        <p:blipFill>
          <a:blip r:embed="rId8">
            <a:alphaModFix/>
          </a:blip>
          <a:stretch>
            <a:fillRect/>
          </a:stretch>
        </p:blipFill>
        <p:spPr>
          <a:xfrm>
            <a:off x="459046" y="299000"/>
            <a:ext cx="4999400" cy="3749550"/>
          </a:xfrm>
          <a:prstGeom prst="rect">
            <a:avLst/>
          </a:prstGeom>
          <a:noFill/>
          <a:ln>
            <a:noFill/>
          </a:ln>
        </p:spPr>
      </p:pic>
      <p:pic>
        <p:nvPicPr>
          <p:cNvPr id="251" name="Google Shape;251;p7"/>
          <p:cNvPicPr preferRelativeResize="0"/>
          <p:nvPr/>
        </p:nvPicPr>
        <p:blipFill>
          <a:blip r:embed="rId9">
            <a:alphaModFix/>
          </a:blip>
          <a:stretch>
            <a:fillRect/>
          </a:stretch>
        </p:blipFill>
        <p:spPr>
          <a:xfrm>
            <a:off x="5458449" y="264850"/>
            <a:ext cx="5969950" cy="3817826"/>
          </a:xfrm>
          <a:prstGeom prst="rect">
            <a:avLst/>
          </a:prstGeom>
          <a:noFill/>
          <a:ln>
            <a:noFill/>
          </a:ln>
        </p:spPr>
      </p:pic>
    </p:spTree>
  </p:cSld>
  <p:clrMapOvr>
    <a:masterClrMapping/>
  </p:clrMapOvr>
  <p:transition spd="slow" p14:dur="800">
    <p:circl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pic>
        <p:nvPicPr>
          <p:cNvPr id="256" name="Google Shape;256;p8"/>
          <p:cNvPicPr preferRelativeResize="0"/>
          <p:nvPr/>
        </p:nvPicPr>
        <p:blipFill rotWithShape="1">
          <a:blip r:embed="rId4">
            <a:alphaModFix/>
          </a:blip>
          <a:srcRect b="0" l="3613" r="0" t="0"/>
          <a:stretch/>
        </p:blipFill>
        <p:spPr>
          <a:xfrm>
            <a:off x="0" y="2669685"/>
            <a:ext cx="4037012" cy="4188315"/>
          </a:xfrm>
          <a:prstGeom prst="rect">
            <a:avLst/>
          </a:prstGeom>
          <a:noFill/>
          <a:ln>
            <a:noFill/>
          </a:ln>
        </p:spPr>
      </p:pic>
      <p:pic>
        <p:nvPicPr>
          <p:cNvPr id="257" name="Google Shape;257;p8"/>
          <p:cNvPicPr preferRelativeResize="0"/>
          <p:nvPr/>
        </p:nvPicPr>
        <p:blipFill rotWithShape="1">
          <a:blip r:embed="rId5">
            <a:alphaModFix/>
          </a:blip>
          <a:srcRect b="0" l="35640" r="0" t="0"/>
          <a:stretch/>
        </p:blipFill>
        <p:spPr>
          <a:xfrm>
            <a:off x="0" y="2892347"/>
            <a:ext cx="1522412" cy="2365453"/>
          </a:xfrm>
          <a:prstGeom prst="rect">
            <a:avLst/>
          </a:prstGeom>
          <a:noFill/>
          <a:ln>
            <a:noFill/>
          </a:ln>
        </p:spPr>
      </p:pic>
      <p:sp>
        <p:nvSpPr>
          <p:cNvPr id="258" name="Google Shape;258;p8"/>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b="50%" l="50%" r="50%" t="50%"/>
            </a:path>
            <a:tileRect/>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259" name="Google Shape;259;p8"/>
          <p:cNvPicPr preferRelativeResize="0"/>
          <p:nvPr/>
        </p:nvPicPr>
        <p:blipFill rotWithShape="1">
          <a:blip r:embed="rId6">
            <a:alphaModFix/>
          </a:blip>
          <a:srcRect b="0" l="0" r="0" t="28812"/>
          <a:stretch/>
        </p:blipFill>
        <p:spPr>
          <a:xfrm>
            <a:off x="7999412" y="0"/>
            <a:ext cx="1603387" cy="1141407"/>
          </a:xfrm>
          <a:prstGeom prst="rect">
            <a:avLst/>
          </a:prstGeom>
          <a:noFill/>
          <a:ln>
            <a:noFill/>
          </a:ln>
        </p:spPr>
      </p:pic>
      <p:pic>
        <p:nvPicPr>
          <p:cNvPr id="260" name="Google Shape;260;p8"/>
          <p:cNvPicPr preferRelativeResize="0"/>
          <p:nvPr/>
        </p:nvPicPr>
        <p:blipFill rotWithShape="1">
          <a:blip r:embed="rId7">
            <a:alphaModFix/>
          </a:blip>
          <a:srcRect b="23320" l="0" r="0" t="0"/>
          <a:stretch/>
        </p:blipFill>
        <p:spPr>
          <a:xfrm>
            <a:off x="8605878" y="6096000"/>
            <a:ext cx="993734" cy="762000"/>
          </a:xfrm>
          <a:prstGeom prst="rect">
            <a:avLst/>
          </a:prstGeom>
          <a:noFill/>
          <a:ln>
            <a:noFill/>
          </a:ln>
        </p:spPr>
      </p:pic>
      <p:sp>
        <p:nvSpPr>
          <p:cNvPr id="261" name="Google Shape;261;p8"/>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descr="Cassava bacterial blight (173)" id="262" name="Google Shape;262;p8"/>
          <p:cNvPicPr preferRelativeResize="0"/>
          <p:nvPr/>
        </p:nvPicPr>
        <p:blipFill rotWithShape="1">
          <a:blip r:embed="rId8">
            <a:alphaModFix/>
          </a:blip>
          <a:srcRect b="-2" l="1547" r="18005" t="0"/>
          <a:stretch/>
        </p:blipFill>
        <p:spPr>
          <a:xfrm>
            <a:off x="1" y="-5"/>
            <a:ext cx="6095999" cy="5020241"/>
          </a:xfrm>
          <a:custGeom>
            <a:rect b="b" l="l" r="r" t="t"/>
            <a:pathLst>
              <a:path extrusionOk="0" h="5020241" w="6095999">
                <a:moveTo>
                  <a:pt x="0" y="0"/>
                </a:moveTo>
                <a:lnTo>
                  <a:pt x="6095999" y="0"/>
                </a:lnTo>
                <a:lnTo>
                  <a:pt x="6095999"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a:noFill/>
          <a:ln>
            <a:noFill/>
          </a:ln>
        </p:spPr>
      </p:pic>
      <p:pic>
        <p:nvPicPr>
          <p:cNvPr descr="Plant Leaf Disease Detection Using Convolutional Neural Network Cnn In ..." id="263" name="Google Shape;263;p8"/>
          <p:cNvPicPr preferRelativeResize="0"/>
          <p:nvPr/>
        </p:nvPicPr>
        <p:blipFill rotWithShape="1">
          <a:blip r:embed="rId9">
            <a:alphaModFix/>
          </a:blip>
          <a:srcRect b="5351" l="0" r="-2" t="19461"/>
          <a:stretch/>
        </p:blipFill>
        <p:spPr>
          <a:xfrm>
            <a:off x="6096000" y="9403"/>
            <a:ext cx="6095696" cy="4583103"/>
          </a:xfrm>
          <a:custGeom>
            <a:rect b="b" l="l" r="r" t="t"/>
            <a:pathLst>
              <a:path extrusionOk="0" h="4583103" w="6095696">
                <a:moveTo>
                  <a:pt x="0" y="0"/>
                </a:moveTo>
                <a:lnTo>
                  <a:pt x="6095696" y="0"/>
                </a:lnTo>
                <a:lnTo>
                  <a:pt x="6095696" y="4057991"/>
                </a:lnTo>
                <a:lnTo>
                  <a:pt x="5818946" y="4110187"/>
                </a:lnTo>
                <a:lnTo>
                  <a:pt x="5543413" y="4159931"/>
                </a:lnTo>
                <a:lnTo>
                  <a:pt x="5266662" y="4208624"/>
                </a:lnTo>
                <a:lnTo>
                  <a:pt x="4988691" y="4250310"/>
                </a:lnTo>
                <a:lnTo>
                  <a:pt x="4711940" y="4292347"/>
                </a:lnTo>
                <a:lnTo>
                  <a:pt x="4433969" y="4331582"/>
                </a:lnTo>
                <a:lnTo>
                  <a:pt x="4159656" y="4365211"/>
                </a:lnTo>
                <a:lnTo>
                  <a:pt x="3881685" y="4397089"/>
                </a:lnTo>
                <a:lnTo>
                  <a:pt x="3604934" y="4426165"/>
                </a:lnTo>
                <a:lnTo>
                  <a:pt x="3333059" y="4451387"/>
                </a:lnTo>
                <a:lnTo>
                  <a:pt x="3057527" y="4476609"/>
                </a:lnTo>
                <a:lnTo>
                  <a:pt x="2785652" y="4497628"/>
                </a:lnTo>
                <a:lnTo>
                  <a:pt x="2513777" y="4514092"/>
                </a:lnTo>
                <a:lnTo>
                  <a:pt x="2243122" y="4531258"/>
                </a:lnTo>
                <a:lnTo>
                  <a:pt x="1974904" y="4545620"/>
                </a:lnTo>
                <a:lnTo>
                  <a:pt x="1709125" y="4555779"/>
                </a:lnTo>
                <a:lnTo>
                  <a:pt x="1443346" y="4564537"/>
                </a:lnTo>
                <a:lnTo>
                  <a:pt x="1180006" y="4572944"/>
                </a:lnTo>
                <a:lnTo>
                  <a:pt x="920323" y="4576798"/>
                </a:lnTo>
                <a:lnTo>
                  <a:pt x="660640" y="4581001"/>
                </a:lnTo>
                <a:lnTo>
                  <a:pt x="404614" y="4583103"/>
                </a:lnTo>
                <a:lnTo>
                  <a:pt x="151027" y="4581001"/>
                </a:lnTo>
                <a:lnTo>
                  <a:pt x="0" y="4581001"/>
                </a:lnTo>
                <a:close/>
              </a:path>
            </a:pathLst>
          </a:custGeom>
          <a:noFill/>
          <a:ln>
            <a:noFill/>
          </a:ln>
        </p:spPr>
      </p:pic>
      <p:sp>
        <p:nvSpPr>
          <p:cNvPr id="264" name="Google Shape;264;p8"/>
          <p:cNvSpPr/>
          <p:nvPr/>
        </p:nvSpPr>
        <p:spPr>
          <a:xfrm>
            <a:off x="8719939" y="3753695"/>
            <a:ext cx="3472060" cy="825932"/>
          </a:xfrm>
          <a:custGeom>
            <a:rect b="b" l="l" r="r" t="t"/>
            <a:pathLst>
              <a:path extrusionOk="0" h="825932" w="3472060">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lt2">
              <a:alpha val="4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65" name="Google Shape;265;p8"/>
          <p:cNvSpPr/>
          <p:nvPr/>
        </p:nvSpPr>
        <p:spPr>
          <a:xfrm>
            <a:off x="0" y="3753700"/>
            <a:ext cx="12192000" cy="3103732"/>
          </a:xfrm>
          <a:custGeom>
            <a:rect b="b" l="l" r="r" t="t"/>
            <a:pathLst>
              <a:path extrusionOk="0" h="2802467" w="12192000">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66" name="Google Shape;266;p8"/>
          <p:cNvSpPr txBox="1"/>
          <p:nvPr>
            <p:ph type="title"/>
          </p:nvPr>
        </p:nvSpPr>
        <p:spPr>
          <a:xfrm>
            <a:off x="892191" y="4389909"/>
            <a:ext cx="10407600" cy="8679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EBEBEB"/>
              </a:buClr>
              <a:buSzPts val="4800"/>
              <a:buFont typeface="Century Gothic"/>
              <a:buNone/>
            </a:pPr>
            <a:r>
              <a:rPr lang="en-US" sz="4800">
                <a:solidFill>
                  <a:srgbClr val="EBEBEB"/>
                </a:solidFill>
              </a:rPr>
              <a:t>Cassava Bacterial Blight (CBB)</a:t>
            </a:r>
            <a:endParaRPr sz="4800">
              <a:solidFill>
                <a:srgbClr val="EBEBEB"/>
              </a:solidFill>
            </a:endParaRPr>
          </a:p>
        </p:txBody>
      </p:sp>
      <p:sp>
        <p:nvSpPr>
          <p:cNvPr id="267" name="Google Shape;267;p8"/>
          <p:cNvSpPr txBox="1"/>
          <p:nvPr>
            <p:ph idx="1" type="body"/>
          </p:nvPr>
        </p:nvSpPr>
        <p:spPr>
          <a:xfrm>
            <a:off x="653225" y="5363700"/>
            <a:ext cx="11242800" cy="14052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SzPct val="75555"/>
              <a:buNone/>
            </a:pPr>
            <a:r>
              <a:rPr lang="en-US" sz="2117">
                <a:solidFill>
                  <a:srgbClr val="F7F7F7"/>
                </a:solidFill>
              </a:rPr>
              <a:t>As the name suggests, is a bacterial disease that affects the crop. Humid environmental conditions are preferred.This causes leaves to wilt and drop prematurely when the infection becomes severe.</a:t>
            </a:r>
            <a:endParaRPr sz="2117">
              <a:solidFill>
                <a:srgbClr val="F7F7F7"/>
              </a:solidFill>
            </a:endParaRPr>
          </a:p>
          <a:p>
            <a:pPr indent="0" lvl="0" marL="0" rtl="0" algn="l">
              <a:spcBef>
                <a:spcPts val="0"/>
              </a:spcBef>
              <a:spcAft>
                <a:spcPts val="0"/>
              </a:spcAft>
              <a:buSzPct val="75555"/>
              <a:buNone/>
            </a:pPr>
            <a:r>
              <a:t/>
            </a:r>
            <a:endParaRPr sz="2117">
              <a:solidFill>
                <a:srgbClr val="F7F7F7"/>
              </a:solidFill>
            </a:endParaRPr>
          </a:p>
          <a:p>
            <a:pPr indent="0" lvl="0" marL="0" rtl="0" algn="l">
              <a:spcBef>
                <a:spcPts val="0"/>
              </a:spcBef>
              <a:spcAft>
                <a:spcPts val="0"/>
              </a:spcAft>
              <a:buSzPct val="75555"/>
              <a:buNone/>
            </a:pPr>
            <a:r>
              <a:rPr lang="en-US" sz="2117">
                <a:solidFill>
                  <a:srgbClr val="F7F7F7"/>
                </a:solidFill>
              </a:rPr>
              <a:t>The main characteristics to be used for classification are </a:t>
            </a:r>
            <a:r>
              <a:rPr b="1" lang="en-US" sz="2117">
                <a:solidFill>
                  <a:srgbClr val="F7F7F7"/>
                </a:solidFill>
              </a:rPr>
              <a:t>black and angular spots</a:t>
            </a:r>
            <a:r>
              <a:rPr lang="en-US" sz="2117">
                <a:solidFill>
                  <a:srgbClr val="F7F7F7"/>
                </a:solidFill>
              </a:rPr>
              <a:t> and </a:t>
            </a:r>
            <a:r>
              <a:rPr b="1" lang="en-US" sz="2117">
                <a:solidFill>
                  <a:srgbClr val="F7F7F7"/>
                </a:solidFill>
              </a:rPr>
              <a:t>dried</a:t>
            </a:r>
            <a:r>
              <a:rPr lang="en-US" sz="2117">
                <a:solidFill>
                  <a:srgbClr val="F7F7F7"/>
                </a:solidFill>
              </a:rPr>
              <a:t>,</a:t>
            </a:r>
            <a:r>
              <a:rPr b="1" lang="en-US" sz="2117">
                <a:solidFill>
                  <a:srgbClr val="F7F7F7"/>
                </a:solidFill>
              </a:rPr>
              <a:t> fallen leaves.</a:t>
            </a:r>
            <a:endParaRPr b="1" sz="2117">
              <a:solidFill>
                <a:srgbClr val="F7F7F7"/>
              </a:solidFill>
            </a:endParaRPr>
          </a:p>
          <a:p>
            <a:pPr indent="0" lvl="0" marL="0" rtl="0" algn="l">
              <a:spcBef>
                <a:spcPts val="0"/>
              </a:spcBef>
              <a:spcAft>
                <a:spcPts val="0"/>
              </a:spcAft>
              <a:buSzPct val="80000"/>
              <a:buNone/>
            </a:pPr>
            <a:r>
              <a:t/>
            </a:r>
            <a:endParaRPr>
              <a:solidFill>
                <a:srgbClr val="F7F7F7"/>
              </a:solidFill>
            </a:endParaRPr>
          </a:p>
        </p:txBody>
      </p:sp>
    </p:spTree>
  </p:cSld>
  <p:clrMapOvr>
    <a:masterClrMapping/>
  </p:clrMapOvr>
  <mc:AlternateContent>
    <mc:Choice Requires="p14">
      <p:transition spd="slow">
        <p14:flash/>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9"/>
          <p:cNvSpPr txBox="1"/>
          <p:nvPr>
            <p:ph type="title"/>
          </p:nvPr>
        </p:nvSpPr>
        <p:spPr>
          <a:xfrm>
            <a:off x="603086" y="481418"/>
            <a:ext cx="9404700" cy="1400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L</a:t>
            </a:r>
            <a:r>
              <a:rPr lang="en-US"/>
              <a:t>iterature review</a:t>
            </a:r>
            <a:endParaRPr/>
          </a:p>
        </p:txBody>
      </p:sp>
      <p:sp>
        <p:nvSpPr>
          <p:cNvPr id="273" name="Google Shape;273;p9"/>
          <p:cNvSpPr txBox="1"/>
          <p:nvPr>
            <p:ph idx="1" type="body"/>
          </p:nvPr>
        </p:nvSpPr>
        <p:spPr>
          <a:xfrm>
            <a:off x="1217337" y="1596793"/>
            <a:ext cx="8946600" cy="4195500"/>
          </a:xfrm>
          <a:prstGeom prst="rect">
            <a:avLst/>
          </a:prstGeom>
          <a:noFill/>
          <a:ln>
            <a:noFill/>
          </a:ln>
        </p:spPr>
        <p:txBody>
          <a:bodyPr anchorCtr="0" anchor="t" bIns="45700" lIns="91425" spcFirstLastPara="1" rIns="91425" wrap="square" tIns="45700">
            <a:normAutofit fontScale="92500" lnSpcReduction="10000"/>
          </a:bodyPr>
          <a:lstStyle/>
          <a:p>
            <a:pPr indent="-241300" lvl="0" marL="342900" rtl="0" algn="l">
              <a:spcBef>
                <a:spcPts val="1000"/>
              </a:spcBef>
              <a:spcAft>
                <a:spcPts val="0"/>
              </a:spcAft>
              <a:buClr>
                <a:schemeClr val="dk1"/>
              </a:buClr>
              <a:buSzPct val="55000"/>
              <a:buFont typeface="Arial"/>
              <a:buNone/>
            </a:pPr>
            <a:r>
              <a:rPr b="1" lang="en-US"/>
              <a:t>Various</a:t>
            </a:r>
            <a:r>
              <a:rPr lang="en-US"/>
              <a:t> studies on the detection of Cassava plant diseases have been examined in our literature review. </a:t>
            </a:r>
            <a:r>
              <a:rPr b="1" lang="en-US"/>
              <a:t>Ozichi </a:t>
            </a:r>
            <a:r>
              <a:rPr lang="en-US"/>
              <a:t>et al. (2019) classified Cassava diseases using Cubic Support Vector Machine and Coarse Gaussian </a:t>
            </a:r>
            <a:r>
              <a:rPr b="1" lang="en-US"/>
              <a:t>Support Vector Machine</a:t>
            </a:r>
            <a:r>
              <a:rPr lang="en-US"/>
              <a:t> models. An accuracy rate of </a:t>
            </a:r>
            <a:r>
              <a:rPr b="1" lang="en-US"/>
              <a:t>83.9%</a:t>
            </a:r>
            <a:r>
              <a:rPr lang="en-US"/>
              <a:t> was achieved in predicting the health status of the leaves through the application of the CSVM model.</a:t>
            </a:r>
            <a:endParaRPr/>
          </a:p>
          <a:p>
            <a:pPr indent="-241300" lvl="0" marL="342900" rtl="0" algn="l">
              <a:spcBef>
                <a:spcPts val="1000"/>
              </a:spcBef>
              <a:spcAft>
                <a:spcPts val="0"/>
              </a:spcAft>
              <a:buClr>
                <a:schemeClr val="dk1"/>
              </a:buClr>
              <a:buSzPct val="55000"/>
              <a:buFont typeface="Arial"/>
              <a:buNone/>
            </a:pPr>
            <a:r>
              <a:t/>
            </a:r>
            <a:endParaRPr/>
          </a:p>
          <a:p>
            <a:pPr indent="-241300" lvl="0" marL="342900" rtl="0" algn="l">
              <a:spcBef>
                <a:spcPts val="1000"/>
              </a:spcBef>
              <a:spcAft>
                <a:spcPts val="0"/>
              </a:spcAft>
              <a:buSzPct val="80000"/>
              <a:buNone/>
            </a:pPr>
            <a:r>
              <a:rPr lang="en-US"/>
              <a:t>On the other hand, Mrisho et al. (2020) conducted disease detection using deep learning and transfer learning techniques. </a:t>
            </a:r>
            <a:r>
              <a:rPr b="1" lang="en-US"/>
              <a:t>Metlek </a:t>
            </a:r>
            <a:r>
              <a:rPr lang="en-US"/>
              <a:t>(2021) classified the Cassava Leaf Disease Classification dataset using R</a:t>
            </a:r>
            <a:r>
              <a:rPr b="1" lang="en-US"/>
              <a:t>esNet 50 and MobileNetV2</a:t>
            </a:r>
            <a:r>
              <a:rPr lang="en-US"/>
              <a:t> models. The</a:t>
            </a:r>
            <a:r>
              <a:rPr b="1" lang="en-US"/>
              <a:t> extracted features</a:t>
            </a:r>
            <a:r>
              <a:rPr lang="en-US"/>
              <a:t> were classified using Support Vector Machine and </a:t>
            </a:r>
            <a:r>
              <a:rPr b="1" lang="en-US"/>
              <a:t>K-Nearest Neighbor algorithms.</a:t>
            </a:r>
            <a:r>
              <a:rPr lang="en-US"/>
              <a:t> The images were divided into two groups, namely training and testing, according to the K-fold 5 value. Average highest success rates in training and test data were achieved, with success rates of 85.4% and </a:t>
            </a:r>
            <a:r>
              <a:rPr b="1" lang="en-US"/>
              <a:t>84.4%</a:t>
            </a:r>
            <a:r>
              <a:rPr lang="en-US"/>
              <a:t>, respectively.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7" name="Shape 277"/>
        <p:cNvGrpSpPr/>
        <p:nvPr/>
      </p:nvGrpSpPr>
      <p:grpSpPr>
        <a:xfrm>
          <a:off x="0" y="0"/>
          <a:ext cx="0" cy="0"/>
          <a:chOff x="0" y="0"/>
          <a:chExt cx="0" cy="0"/>
        </a:xfrm>
      </p:grpSpPr>
      <p:sp>
        <p:nvSpPr>
          <p:cNvPr id="278" name="Google Shape;278;p10"/>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79" name="Google Shape;279;p1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80" name="Google Shape;280;p10"/>
          <p:cNvSpPr/>
          <p:nvPr/>
        </p:nvSpPr>
        <p:spPr>
          <a:xfrm>
            <a:off x="8719939" y="1460230"/>
            <a:ext cx="3472060" cy="825932"/>
          </a:xfrm>
          <a:custGeom>
            <a:rect b="b" l="l" r="r" t="t"/>
            <a:pathLst>
              <a:path extrusionOk="0" h="825932" w="3472060">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81" name="Google Shape;281;p10"/>
          <p:cNvSpPr txBox="1"/>
          <p:nvPr>
            <p:ph type="title"/>
          </p:nvPr>
        </p:nvSpPr>
        <p:spPr>
          <a:xfrm>
            <a:off x="578905" y="332667"/>
            <a:ext cx="9252300" cy="1016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EBEBEB"/>
              </a:buClr>
              <a:buSzPts val="4200"/>
              <a:buFont typeface="Times New Roman"/>
              <a:buNone/>
            </a:pPr>
            <a:r>
              <a:rPr lang="en-US">
                <a:solidFill>
                  <a:srgbClr val="EBEBEB"/>
                </a:solidFill>
                <a:latin typeface="Times New Roman"/>
                <a:ea typeface="Times New Roman"/>
                <a:cs typeface="Times New Roman"/>
                <a:sym typeface="Times New Roman"/>
              </a:rPr>
              <a:t> </a:t>
            </a:r>
            <a:r>
              <a:rPr lang="en-US">
                <a:solidFill>
                  <a:srgbClr val="EBEBEB"/>
                </a:solidFill>
                <a:latin typeface="Times New Roman"/>
                <a:ea typeface="Times New Roman"/>
                <a:cs typeface="Times New Roman"/>
                <a:sym typeface="Times New Roman"/>
              </a:rPr>
              <a:t>Dataset and Image Processing</a:t>
            </a:r>
            <a:endParaRPr/>
          </a:p>
        </p:txBody>
      </p:sp>
      <p:sp>
        <p:nvSpPr>
          <p:cNvPr id="282" name="Google Shape;282;p10"/>
          <p:cNvSpPr/>
          <p:nvPr/>
        </p:nvSpPr>
        <p:spPr>
          <a:xfrm>
            <a:off x="0" y="1279300"/>
            <a:ext cx="12192417" cy="5580047"/>
          </a:xfrm>
          <a:custGeom>
            <a:rect b="b" l="l" r="r" t="t"/>
            <a:pathLst>
              <a:path extrusionOk="0" h="5095933" w="12192417">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pic>
        <p:nvPicPr>
          <p:cNvPr descr="Top Data Augmentation Techniques: Ultimate Guide for 2023" id="283" name="Google Shape;283;p10"/>
          <p:cNvPicPr preferRelativeResize="0"/>
          <p:nvPr/>
        </p:nvPicPr>
        <p:blipFill rotWithShape="1">
          <a:blip r:embed="rId4">
            <a:alphaModFix/>
          </a:blip>
          <a:srcRect b="0" l="0" r="0" t="0"/>
          <a:stretch/>
        </p:blipFill>
        <p:spPr>
          <a:xfrm>
            <a:off x="239167" y="2751637"/>
            <a:ext cx="6181504" cy="3477096"/>
          </a:xfrm>
          <a:prstGeom prst="rect">
            <a:avLst/>
          </a:prstGeom>
          <a:noFill/>
          <a:ln>
            <a:noFill/>
          </a:ln>
        </p:spPr>
      </p:pic>
      <p:sp>
        <p:nvSpPr>
          <p:cNvPr id="284" name="Google Shape;284;p10"/>
          <p:cNvSpPr txBox="1"/>
          <p:nvPr>
            <p:ph idx="1" type="body"/>
          </p:nvPr>
        </p:nvSpPr>
        <p:spPr>
          <a:xfrm>
            <a:off x="5738350" y="1906875"/>
            <a:ext cx="5929500" cy="5580000"/>
          </a:xfrm>
          <a:prstGeom prst="rect">
            <a:avLst/>
          </a:prstGeom>
          <a:noFill/>
          <a:ln>
            <a:noFill/>
          </a:ln>
        </p:spPr>
        <p:txBody>
          <a:bodyPr anchorCtr="0" anchor="t" bIns="45700" lIns="91425" spcFirstLastPara="1" rIns="91425" wrap="square" tIns="45700">
            <a:noAutofit/>
          </a:bodyPr>
          <a:lstStyle/>
          <a:p>
            <a:pPr indent="-359410" lvl="0" marL="342900" rtl="0" algn="l">
              <a:lnSpc>
                <a:spcPct val="90000"/>
              </a:lnSpc>
              <a:spcBef>
                <a:spcPts val="1000"/>
              </a:spcBef>
              <a:spcAft>
                <a:spcPts val="0"/>
              </a:spcAft>
              <a:buSzPts val="1700"/>
              <a:buChar char="►"/>
            </a:pPr>
            <a:r>
              <a:rPr lang="en-US" sz="1700">
                <a:latin typeface="Times New Roman"/>
                <a:ea typeface="Times New Roman"/>
                <a:cs typeface="Times New Roman"/>
                <a:sym typeface="Times New Roman"/>
              </a:rPr>
              <a:t>For this project, we conducted three different experiments. Firstly, we utilized </a:t>
            </a:r>
            <a:r>
              <a:rPr b="1" lang="en-US" sz="1700">
                <a:latin typeface="Times New Roman"/>
                <a:ea typeface="Times New Roman"/>
                <a:cs typeface="Times New Roman"/>
                <a:sym typeface="Times New Roman"/>
              </a:rPr>
              <a:t>all training datasets</a:t>
            </a:r>
            <a:r>
              <a:rPr lang="en-US" sz="1700">
                <a:latin typeface="Times New Roman"/>
                <a:ea typeface="Times New Roman"/>
                <a:cs typeface="Times New Roman"/>
                <a:sym typeface="Times New Roman"/>
              </a:rPr>
              <a:t>. Then, we attempted to </a:t>
            </a:r>
            <a:r>
              <a:rPr b="1" lang="en-US" sz="1700">
                <a:latin typeface="Times New Roman"/>
                <a:ea typeface="Times New Roman"/>
                <a:cs typeface="Times New Roman"/>
                <a:sym typeface="Times New Roman"/>
              </a:rPr>
              <a:t>remove irrelevant images</a:t>
            </a:r>
            <a:r>
              <a:rPr lang="en-US" sz="1700">
                <a:latin typeface="Times New Roman"/>
                <a:ea typeface="Times New Roman"/>
                <a:cs typeface="Times New Roman"/>
                <a:sym typeface="Times New Roman"/>
              </a:rPr>
              <a:t> one by one from each class. Lastly, we set the number of images in all classes to the </a:t>
            </a:r>
            <a:r>
              <a:rPr b="1" lang="en-US" sz="1700">
                <a:latin typeface="Times New Roman"/>
                <a:ea typeface="Times New Roman"/>
                <a:cs typeface="Times New Roman"/>
                <a:sym typeface="Times New Roman"/>
              </a:rPr>
              <a:t>lowest class count</a:t>
            </a:r>
            <a:r>
              <a:rPr lang="en-US" sz="1700">
                <a:latin typeface="Times New Roman"/>
                <a:ea typeface="Times New Roman"/>
                <a:cs typeface="Times New Roman"/>
                <a:sym typeface="Times New Roman"/>
              </a:rPr>
              <a:t>, which was </a:t>
            </a:r>
            <a:r>
              <a:rPr b="1" lang="en-US" sz="1700">
                <a:latin typeface="Times New Roman"/>
                <a:ea typeface="Times New Roman"/>
                <a:cs typeface="Times New Roman"/>
                <a:sym typeface="Times New Roman"/>
              </a:rPr>
              <a:t>987 images</a:t>
            </a:r>
            <a:r>
              <a:rPr lang="en-US" sz="1700">
                <a:latin typeface="Times New Roman"/>
                <a:ea typeface="Times New Roman"/>
                <a:cs typeface="Times New Roman"/>
                <a:sym typeface="Times New Roman"/>
              </a:rPr>
              <a:t>.</a:t>
            </a:r>
            <a:endParaRPr sz="1700">
              <a:latin typeface="Times New Roman"/>
              <a:ea typeface="Times New Roman"/>
              <a:cs typeface="Times New Roman"/>
              <a:sym typeface="Times New Roman"/>
            </a:endParaRPr>
          </a:p>
          <a:p>
            <a:pPr indent="-359410" lvl="0" marL="342900" rtl="0" algn="l">
              <a:lnSpc>
                <a:spcPct val="90000"/>
              </a:lnSpc>
              <a:spcBef>
                <a:spcPts val="1000"/>
              </a:spcBef>
              <a:spcAft>
                <a:spcPts val="0"/>
              </a:spcAft>
              <a:buSzPts val="1700"/>
              <a:buChar char="►"/>
            </a:pPr>
            <a:r>
              <a:t/>
            </a:r>
            <a:endParaRPr sz="1700">
              <a:latin typeface="Times New Roman"/>
              <a:ea typeface="Times New Roman"/>
              <a:cs typeface="Times New Roman"/>
              <a:sym typeface="Times New Roman"/>
            </a:endParaRPr>
          </a:p>
          <a:p>
            <a:pPr indent="-359410" lvl="0" marL="342900" rtl="0" algn="l">
              <a:lnSpc>
                <a:spcPct val="90000"/>
              </a:lnSpc>
              <a:spcBef>
                <a:spcPts val="1000"/>
              </a:spcBef>
              <a:spcAft>
                <a:spcPts val="0"/>
              </a:spcAft>
              <a:buSzPts val="1700"/>
              <a:buChar char="►"/>
            </a:pPr>
            <a:r>
              <a:rPr lang="en-US" sz="1700">
                <a:latin typeface="Times New Roman"/>
                <a:ea typeface="Times New Roman"/>
                <a:cs typeface="Times New Roman"/>
                <a:sym typeface="Times New Roman"/>
              </a:rPr>
              <a:t>As a result, we utilized a large dataset comprising 10,965 images to achieve the best outcome. This dataset includes various images of healthy leaves and four different types of diseased leaves.</a:t>
            </a:r>
            <a:endParaRPr sz="1700">
              <a:latin typeface="Times New Roman"/>
              <a:ea typeface="Times New Roman"/>
              <a:cs typeface="Times New Roman"/>
              <a:sym typeface="Times New Roman"/>
            </a:endParaRPr>
          </a:p>
          <a:p>
            <a:pPr indent="-359410" lvl="0" marL="342900" rtl="0" algn="l">
              <a:lnSpc>
                <a:spcPct val="90000"/>
              </a:lnSpc>
              <a:spcBef>
                <a:spcPts val="1000"/>
              </a:spcBef>
              <a:spcAft>
                <a:spcPts val="0"/>
              </a:spcAft>
              <a:buSzPts val="1700"/>
              <a:buChar char="►"/>
            </a:pPr>
            <a:r>
              <a:rPr lang="en-US" sz="1700">
                <a:latin typeface="Times New Roman"/>
                <a:ea typeface="Times New Roman"/>
                <a:cs typeface="Times New Roman"/>
                <a:sym typeface="Times New Roman"/>
              </a:rPr>
              <a:t>Our image processing steps are as follows:</a:t>
            </a:r>
            <a:endParaRPr sz="1700">
              <a:latin typeface="Times New Roman"/>
              <a:ea typeface="Times New Roman"/>
              <a:cs typeface="Times New Roman"/>
              <a:sym typeface="Times New Roman"/>
            </a:endParaRPr>
          </a:p>
          <a:p>
            <a:pPr indent="-359410" lvl="0" marL="342900" rtl="0" algn="l">
              <a:lnSpc>
                <a:spcPct val="90000"/>
              </a:lnSpc>
              <a:spcBef>
                <a:spcPts val="1000"/>
              </a:spcBef>
              <a:spcAft>
                <a:spcPts val="0"/>
              </a:spcAft>
              <a:buSzPts val="1700"/>
              <a:buChar char="►"/>
            </a:pPr>
            <a:r>
              <a:rPr lang="en-US" sz="1700">
                <a:latin typeface="Times New Roman"/>
                <a:ea typeface="Times New Roman"/>
                <a:cs typeface="Times New Roman"/>
                <a:sym typeface="Times New Roman"/>
              </a:rPr>
              <a:t>- </a:t>
            </a:r>
            <a:r>
              <a:rPr b="1" lang="en-US" sz="1700">
                <a:latin typeface="Times New Roman"/>
                <a:ea typeface="Times New Roman"/>
                <a:cs typeface="Times New Roman"/>
                <a:sym typeface="Times New Roman"/>
              </a:rPr>
              <a:t>Resizing Images</a:t>
            </a:r>
            <a:r>
              <a:rPr lang="en-US" sz="1700">
                <a:latin typeface="Times New Roman"/>
                <a:ea typeface="Times New Roman"/>
                <a:cs typeface="Times New Roman"/>
                <a:sym typeface="Times New Roman"/>
              </a:rPr>
              <a:t>: All images were resized to fit the input dimensions of the model.</a:t>
            </a:r>
            <a:endParaRPr sz="1700">
              <a:latin typeface="Times New Roman"/>
              <a:ea typeface="Times New Roman"/>
              <a:cs typeface="Times New Roman"/>
              <a:sym typeface="Times New Roman"/>
            </a:endParaRPr>
          </a:p>
          <a:p>
            <a:pPr indent="-359410" lvl="0" marL="342900" rtl="0" algn="l">
              <a:lnSpc>
                <a:spcPct val="90000"/>
              </a:lnSpc>
              <a:spcBef>
                <a:spcPts val="1000"/>
              </a:spcBef>
              <a:spcAft>
                <a:spcPts val="0"/>
              </a:spcAft>
              <a:buSzPts val="1700"/>
              <a:buChar char="►"/>
            </a:pPr>
            <a:r>
              <a:rPr lang="en-US" sz="1700">
                <a:latin typeface="Times New Roman"/>
                <a:ea typeface="Times New Roman"/>
                <a:cs typeface="Times New Roman"/>
                <a:sym typeface="Times New Roman"/>
              </a:rPr>
              <a:t>- </a:t>
            </a:r>
            <a:r>
              <a:rPr b="1" lang="en-US" sz="1700">
                <a:latin typeface="Times New Roman"/>
                <a:ea typeface="Times New Roman"/>
                <a:cs typeface="Times New Roman"/>
                <a:sym typeface="Times New Roman"/>
              </a:rPr>
              <a:t>Scaling</a:t>
            </a:r>
            <a:r>
              <a:rPr lang="en-US" sz="1700">
                <a:latin typeface="Times New Roman"/>
                <a:ea typeface="Times New Roman"/>
                <a:cs typeface="Times New Roman"/>
                <a:sym typeface="Times New Roman"/>
              </a:rPr>
              <a:t>: Images were normalized using a specific scaling factor.</a:t>
            </a:r>
            <a:endParaRPr sz="1700">
              <a:latin typeface="Times New Roman"/>
              <a:ea typeface="Times New Roman"/>
              <a:cs typeface="Times New Roman"/>
              <a:sym typeface="Times New Roman"/>
            </a:endParaRPr>
          </a:p>
          <a:p>
            <a:pPr indent="-364490" lvl="0" marL="342900" rtl="0" algn="l">
              <a:lnSpc>
                <a:spcPct val="90000"/>
              </a:lnSpc>
              <a:spcBef>
                <a:spcPts val="1000"/>
              </a:spcBef>
              <a:spcAft>
                <a:spcPts val="0"/>
              </a:spcAft>
              <a:buSzPts val="1700"/>
              <a:buChar char="►"/>
            </a:pPr>
            <a:r>
              <a:rPr lang="en-US" sz="1700">
                <a:latin typeface="Times New Roman"/>
                <a:ea typeface="Times New Roman"/>
                <a:cs typeface="Times New Roman"/>
                <a:sym typeface="Times New Roman"/>
              </a:rPr>
              <a:t>- </a:t>
            </a:r>
            <a:r>
              <a:rPr b="1" lang="en-US" sz="1700">
                <a:latin typeface="Times New Roman"/>
                <a:ea typeface="Times New Roman"/>
                <a:cs typeface="Times New Roman"/>
                <a:sym typeface="Times New Roman"/>
              </a:rPr>
              <a:t>Data Augmentation</a:t>
            </a:r>
            <a:r>
              <a:rPr lang="en-US" sz="1700">
                <a:latin typeface="Times New Roman"/>
                <a:ea typeface="Times New Roman"/>
                <a:cs typeface="Times New Roman"/>
                <a:sym typeface="Times New Roman"/>
              </a:rPr>
              <a:t>: Various augmentation techniques were applied to enrich the training data.</a:t>
            </a:r>
            <a:endParaRPr sz="1700">
              <a:latin typeface="Times New Roman"/>
              <a:ea typeface="Times New Roman"/>
              <a:cs typeface="Times New Roman"/>
              <a:sym typeface="Times New Roman"/>
            </a:endParaRPr>
          </a:p>
        </p:txBody>
      </p:sp>
    </p:spTree>
  </p:cSld>
  <p:clrMapOvr>
    <a:masterClrMapping/>
  </p:clrMapOvr>
  <p:transition p14:dur="100">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2de868f00e4_0_7"/>
          <p:cNvSpPr txBox="1"/>
          <p:nvPr>
            <p:ph type="title"/>
          </p:nvPr>
        </p:nvSpPr>
        <p:spPr>
          <a:xfrm>
            <a:off x="646111" y="452718"/>
            <a:ext cx="94047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First Code Looking</a:t>
            </a:r>
            <a:endParaRPr/>
          </a:p>
        </p:txBody>
      </p:sp>
      <p:sp>
        <p:nvSpPr>
          <p:cNvPr id="290" name="Google Shape;290;g2de868f00e4_0_7"/>
          <p:cNvSpPr txBox="1"/>
          <p:nvPr>
            <p:ph idx="1" type="body"/>
          </p:nvPr>
        </p:nvSpPr>
        <p:spPr>
          <a:xfrm>
            <a:off x="7824950" y="1222175"/>
            <a:ext cx="4197600" cy="3885300"/>
          </a:xfrm>
          <a:prstGeom prst="rect">
            <a:avLst/>
          </a:prstGeom>
        </p:spPr>
        <p:txBody>
          <a:bodyPr anchorCtr="0" anchor="t" bIns="45700" lIns="91425" spcFirstLastPara="1" rIns="91425" wrap="square" tIns="45700">
            <a:normAutofit fontScale="77500" lnSpcReduction="20000"/>
          </a:bodyPr>
          <a:lstStyle/>
          <a:p>
            <a:pPr indent="0" lvl="0" marL="0" rtl="0" algn="l">
              <a:spcBef>
                <a:spcPts val="1000"/>
              </a:spcBef>
              <a:spcAft>
                <a:spcPts val="0"/>
              </a:spcAft>
              <a:buNone/>
            </a:pPr>
            <a:r>
              <a:rPr lang="en-US"/>
              <a:t>Firstly, all the necessary libraries were imported.</a:t>
            </a:r>
            <a:endParaRPr/>
          </a:p>
          <a:p>
            <a:pPr indent="0" lvl="0" marL="0" rtl="0" algn="l">
              <a:spcBef>
                <a:spcPts val="1000"/>
              </a:spcBef>
              <a:spcAft>
                <a:spcPts val="0"/>
              </a:spcAft>
              <a:buNone/>
            </a:pPr>
            <a:r>
              <a:rPr lang="en-US"/>
              <a:t>The image dimensions, as well as the batch size, channel, and epoch numbers, were specified.</a:t>
            </a:r>
            <a:endParaRPr/>
          </a:p>
          <a:p>
            <a:pPr indent="0" lvl="0" marL="0" rtl="0" algn="l">
              <a:spcBef>
                <a:spcPts val="1000"/>
              </a:spcBef>
              <a:spcAft>
                <a:spcPts val="0"/>
              </a:spcAft>
              <a:buNone/>
            </a:pPr>
            <a:r>
              <a:rPr lang="en-US"/>
              <a:t>The datasets were accessed by providing the file path using the TensorFlow Keras libraries.</a:t>
            </a:r>
            <a:endParaRPr/>
          </a:p>
          <a:p>
            <a:pPr indent="0" lvl="0" marL="0" rtl="0" algn="l">
              <a:spcBef>
                <a:spcPts val="1000"/>
              </a:spcBef>
              <a:spcAft>
                <a:spcPts val="0"/>
              </a:spcAft>
              <a:buNone/>
            </a:pPr>
            <a:r>
              <a:rPr lang="en-US"/>
              <a:t>In the training file, the number of classes was indicated by accessing the </a:t>
            </a:r>
            <a:r>
              <a:rPr b="1" lang="en-US"/>
              <a:t>subfolders</a:t>
            </a:r>
            <a:r>
              <a:rPr lang="en-US"/>
              <a:t>.</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As observed, the training data has been split. 80% of it is used for training, 10% for validation, and 10% for testing.</a:t>
            </a:r>
            <a:endParaRPr/>
          </a:p>
        </p:txBody>
      </p:sp>
      <p:pic>
        <p:nvPicPr>
          <p:cNvPr id="291" name="Google Shape;291;g2de868f00e4_0_7"/>
          <p:cNvPicPr preferRelativeResize="0"/>
          <p:nvPr/>
        </p:nvPicPr>
        <p:blipFill>
          <a:blip r:embed="rId3">
            <a:alphaModFix/>
          </a:blip>
          <a:stretch>
            <a:fillRect/>
          </a:stretch>
        </p:blipFill>
        <p:spPr>
          <a:xfrm>
            <a:off x="220825" y="1334763"/>
            <a:ext cx="3409950" cy="1724025"/>
          </a:xfrm>
          <a:prstGeom prst="rect">
            <a:avLst/>
          </a:prstGeom>
          <a:noFill/>
          <a:ln>
            <a:noFill/>
          </a:ln>
        </p:spPr>
      </p:pic>
      <p:pic>
        <p:nvPicPr>
          <p:cNvPr id="292" name="Google Shape;292;g2de868f00e4_0_7"/>
          <p:cNvPicPr preferRelativeResize="0"/>
          <p:nvPr/>
        </p:nvPicPr>
        <p:blipFill>
          <a:blip r:embed="rId4">
            <a:alphaModFix/>
          </a:blip>
          <a:stretch>
            <a:fillRect/>
          </a:stretch>
        </p:blipFill>
        <p:spPr>
          <a:xfrm>
            <a:off x="3973663" y="1416218"/>
            <a:ext cx="3067050" cy="1400175"/>
          </a:xfrm>
          <a:prstGeom prst="rect">
            <a:avLst/>
          </a:prstGeom>
          <a:noFill/>
          <a:ln>
            <a:noFill/>
          </a:ln>
        </p:spPr>
      </p:pic>
      <p:pic>
        <p:nvPicPr>
          <p:cNvPr id="293" name="Google Shape;293;g2de868f00e4_0_7"/>
          <p:cNvPicPr preferRelativeResize="0"/>
          <p:nvPr/>
        </p:nvPicPr>
        <p:blipFill>
          <a:blip r:embed="rId5">
            <a:alphaModFix/>
          </a:blip>
          <a:stretch>
            <a:fillRect/>
          </a:stretch>
        </p:blipFill>
        <p:spPr>
          <a:xfrm>
            <a:off x="220825" y="4618149"/>
            <a:ext cx="6087966" cy="1400400"/>
          </a:xfrm>
          <a:prstGeom prst="rect">
            <a:avLst/>
          </a:prstGeom>
          <a:noFill/>
          <a:ln>
            <a:noFill/>
          </a:ln>
        </p:spPr>
      </p:pic>
      <p:pic>
        <p:nvPicPr>
          <p:cNvPr id="294" name="Google Shape;294;g2de868f00e4_0_7"/>
          <p:cNvPicPr preferRelativeResize="0"/>
          <p:nvPr/>
        </p:nvPicPr>
        <p:blipFill>
          <a:blip r:embed="rId6">
            <a:alphaModFix/>
          </a:blip>
          <a:stretch>
            <a:fillRect/>
          </a:stretch>
        </p:blipFill>
        <p:spPr>
          <a:xfrm>
            <a:off x="2871941" y="3454600"/>
            <a:ext cx="4953000" cy="914400"/>
          </a:xfrm>
          <a:prstGeom prst="rect">
            <a:avLst/>
          </a:prstGeom>
          <a:noFill/>
          <a:ln>
            <a:noFill/>
          </a:ln>
        </p:spPr>
      </p:pic>
      <p:pic>
        <p:nvPicPr>
          <p:cNvPr id="295" name="Google Shape;295;g2de868f00e4_0_7"/>
          <p:cNvPicPr preferRelativeResize="0"/>
          <p:nvPr/>
        </p:nvPicPr>
        <p:blipFill>
          <a:blip r:embed="rId7">
            <a:alphaModFix/>
          </a:blip>
          <a:stretch>
            <a:fillRect/>
          </a:stretch>
        </p:blipFill>
        <p:spPr>
          <a:xfrm>
            <a:off x="303628" y="3304292"/>
            <a:ext cx="1802075" cy="1068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2de868f00e4_0_23"/>
          <p:cNvSpPr txBox="1"/>
          <p:nvPr>
            <p:ph type="title"/>
          </p:nvPr>
        </p:nvSpPr>
        <p:spPr>
          <a:xfrm>
            <a:off x="841611" y="94343"/>
            <a:ext cx="94047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Pre-processing </a:t>
            </a:r>
            <a:endParaRPr/>
          </a:p>
        </p:txBody>
      </p:sp>
      <p:sp>
        <p:nvSpPr>
          <p:cNvPr id="301" name="Google Shape;301;g2de868f00e4_0_23"/>
          <p:cNvSpPr txBox="1"/>
          <p:nvPr>
            <p:ph idx="1" type="body"/>
          </p:nvPr>
        </p:nvSpPr>
        <p:spPr>
          <a:xfrm>
            <a:off x="7139275" y="1092900"/>
            <a:ext cx="3958500" cy="5106000"/>
          </a:xfrm>
          <a:prstGeom prst="rect">
            <a:avLst/>
          </a:prstGeom>
        </p:spPr>
        <p:txBody>
          <a:bodyPr anchorCtr="0" anchor="t" bIns="45700" lIns="91425" spcFirstLastPara="1" rIns="91425" wrap="square" tIns="45700">
            <a:normAutofit fontScale="85000" lnSpcReduction="20000"/>
          </a:bodyPr>
          <a:lstStyle/>
          <a:p>
            <a:pPr indent="0" lvl="0" marL="0" rtl="0" algn="l">
              <a:spcBef>
                <a:spcPts val="1000"/>
              </a:spcBef>
              <a:spcAft>
                <a:spcPts val="0"/>
              </a:spcAft>
              <a:buNone/>
            </a:pPr>
            <a:r>
              <a:rPr lang="en-US"/>
              <a:t>The validation, test, and training data have been partitioned according to </a:t>
            </a:r>
            <a:r>
              <a:rPr b="1" lang="en-US"/>
              <a:t>batch sizes of 32</a:t>
            </a:r>
            <a:r>
              <a:rPr lang="en-US"/>
              <a:t>.</a:t>
            </a:r>
            <a:endParaRPr/>
          </a:p>
          <a:p>
            <a:pPr indent="0" lvl="0" marL="0" rtl="0" algn="l">
              <a:spcBef>
                <a:spcPts val="1000"/>
              </a:spcBef>
              <a:spcAft>
                <a:spcPts val="0"/>
              </a:spcAft>
              <a:buNone/>
            </a:pPr>
            <a:r>
              <a:rPr lang="en-US"/>
              <a:t>Before integrating our images into the network, we need to </a:t>
            </a:r>
            <a:r>
              <a:rPr b="1" lang="en-US"/>
              <a:t>resize</a:t>
            </a:r>
            <a:r>
              <a:rPr lang="en-US"/>
              <a:t> them to the desired dimensions. Additionally, to enhance the model's performance, we should </a:t>
            </a:r>
            <a:r>
              <a:rPr b="1" lang="en-US"/>
              <a:t>normalize</a:t>
            </a:r>
            <a:r>
              <a:rPr lang="en-US"/>
              <a:t> the pixel values of the images.</a:t>
            </a:r>
            <a:endParaRPr/>
          </a:p>
          <a:p>
            <a:pPr indent="0" lvl="0" marL="0" rtl="0" algn="l">
              <a:spcBef>
                <a:spcPts val="1000"/>
              </a:spcBef>
              <a:spcAft>
                <a:spcPts val="0"/>
              </a:spcAft>
              <a:buNone/>
            </a:pPr>
            <a:r>
              <a:rPr lang="en-US"/>
              <a:t>Data augmentation is performed to diversify the training data and enhance the model's generalization ability. Blurring is a technique aimed at reducing noise, allowing the model to focus on the overall features.</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pic>
        <p:nvPicPr>
          <p:cNvPr id="302" name="Google Shape;302;g2de868f00e4_0_23"/>
          <p:cNvPicPr preferRelativeResize="0"/>
          <p:nvPr/>
        </p:nvPicPr>
        <p:blipFill>
          <a:blip r:embed="rId3">
            <a:alphaModFix/>
          </a:blip>
          <a:stretch>
            <a:fillRect/>
          </a:stretch>
        </p:blipFill>
        <p:spPr>
          <a:xfrm>
            <a:off x="116100" y="914475"/>
            <a:ext cx="5524500" cy="1543050"/>
          </a:xfrm>
          <a:prstGeom prst="rect">
            <a:avLst/>
          </a:prstGeom>
          <a:noFill/>
          <a:ln>
            <a:noFill/>
          </a:ln>
        </p:spPr>
      </p:pic>
      <p:pic>
        <p:nvPicPr>
          <p:cNvPr id="303" name="Google Shape;303;g2de868f00e4_0_23"/>
          <p:cNvPicPr preferRelativeResize="0"/>
          <p:nvPr/>
        </p:nvPicPr>
        <p:blipFill>
          <a:blip r:embed="rId4">
            <a:alphaModFix/>
          </a:blip>
          <a:stretch>
            <a:fillRect/>
          </a:stretch>
        </p:blipFill>
        <p:spPr>
          <a:xfrm>
            <a:off x="222400" y="2642500"/>
            <a:ext cx="3390900" cy="733425"/>
          </a:xfrm>
          <a:prstGeom prst="rect">
            <a:avLst/>
          </a:prstGeom>
          <a:noFill/>
          <a:ln>
            <a:noFill/>
          </a:ln>
        </p:spPr>
      </p:pic>
      <p:pic>
        <p:nvPicPr>
          <p:cNvPr id="304" name="Google Shape;304;g2de868f00e4_0_23"/>
          <p:cNvPicPr preferRelativeResize="0"/>
          <p:nvPr/>
        </p:nvPicPr>
        <p:blipFill>
          <a:blip r:embed="rId5">
            <a:alphaModFix/>
          </a:blip>
          <a:stretch>
            <a:fillRect/>
          </a:stretch>
        </p:blipFill>
        <p:spPr>
          <a:xfrm>
            <a:off x="152400" y="3528325"/>
            <a:ext cx="4533900" cy="3124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1"/>
          <p:cNvSpPr txBox="1"/>
          <p:nvPr>
            <p:ph type="title"/>
          </p:nvPr>
        </p:nvSpPr>
        <p:spPr>
          <a:xfrm>
            <a:off x="632136" y="200593"/>
            <a:ext cx="9404700" cy="1400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sz="3600">
                <a:latin typeface="Times New Roman"/>
                <a:ea typeface="Times New Roman"/>
                <a:cs typeface="Times New Roman"/>
                <a:sym typeface="Times New Roman"/>
              </a:rPr>
              <a:t>CNN  BASED MODEL</a:t>
            </a:r>
            <a:endParaRPr sz="3600">
              <a:latin typeface="Times New Roman"/>
              <a:ea typeface="Times New Roman"/>
              <a:cs typeface="Times New Roman"/>
              <a:sym typeface="Times New Roman"/>
            </a:endParaRPr>
          </a:p>
        </p:txBody>
      </p:sp>
      <p:sp>
        <p:nvSpPr>
          <p:cNvPr id="310" name="Google Shape;310;p11"/>
          <p:cNvSpPr txBox="1"/>
          <p:nvPr>
            <p:ph idx="1" type="body"/>
          </p:nvPr>
        </p:nvSpPr>
        <p:spPr>
          <a:xfrm>
            <a:off x="5215000" y="766800"/>
            <a:ext cx="6079800" cy="5660100"/>
          </a:xfrm>
          <a:prstGeom prst="rect">
            <a:avLst/>
          </a:prstGeom>
          <a:noFill/>
          <a:ln>
            <a:noFill/>
          </a:ln>
        </p:spPr>
        <p:txBody>
          <a:bodyPr anchorCtr="0" anchor="t" bIns="45700" lIns="91425" spcFirstLastPara="1" rIns="91425" wrap="square" tIns="45700">
            <a:noAutofit/>
          </a:bodyPr>
          <a:lstStyle/>
          <a:p>
            <a:pPr indent="-342900" lvl="0" marL="342900" rtl="0" algn="l">
              <a:spcBef>
                <a:spcPts val="1000"/>
              </a:spcBef>
              <a:spcAft>
                <a:spcPts val="0"/>
              </a:spcAft>
              <a:buSzPts val="1440"/>
              <a:buChar char="►"/>
            </a:pPr>
            <a:r>
              <a:rPr b="1" lang="en-US" sz="1800">
                <a:latin typeface="Times New Roman"/>
                <a:ea typeface="Times New Roman"/>
                <a:cs typeface="Times New Roman"/>
                <a:sym typeface="Times New Roman"/>
              </a:rPr>
              <a:t>In the project</a:t>
            </a:r>
            <a:r>
              <a:rPr lang="en-US" sz="1800">
                <a:latin typeface="Times New Roman"/>
                <a:ea typeface="Times New Roman"/>
                <a:cs typeface="Times New Roman"/>
                <a:sym typeface="Times New Roman"/>
              </a:rPr>
              <a:t>, a model based on Convolutional Neural Network (CNN) was employed. </a:t>
            </a:r>
            <a:r>
              <a:rPr b="1" lang="en-US" sz="1800">
                <a:latin typeface="Times New Roman"/>
                <a:ea typeface="Times New Roman"/>
                <a:cs typeface="Times New Roman"/>
                <a:sym typeface="Times New Roman"/>
              </a:rPr>
              <a:t>No pre-trained </a:t>
            </a:r>
            <a:r>
              <a:rPr lang="en-US" sz="1800">
                <a:latin typeface="Times New Roman"/>
                <a:ea typeface="Times New Roman"/>
                <a:cs typeface="Times New Roman"/>
                <a:sym typeface="Times New Roman"/>
              </a:rPr>
              <a:t>model was utilized; the code and model were constructed from </a:t>
            </a:r>
            <a:r>
              <a:rPr b="1" lang="en-US" sz="1800">
                <a:latin typeface="Times New Roman"/>
                <a:ea typeface="Times New Roman"/>
                <a:cs typeface="Times New Roman"/>
                <a:sym typeface="Times New Roman"/>
              </a:rPr>
              <a:t>scratch</a:t>
            </a:r>
            <a:r>
              <a:rPr lang="en-US" sz="1800">
                <a:latin typeface="Times New Roman"/>
                <a:ea typeface="Times New Roman"/>
                <a:cs typeface="Times New Roman"/>
                <a:sym typeface="Times New Roman"/>
              </a:rPr>
              <a:t>. CNNs are highly effective, especially in image classification tasks. The layers and features of our model were as follows:</a:t>
            </a:r>
            <a:endParaRPr sz="1800">
              <a:latin typeface="Times New Roman"/>
              <a:ea typeface="Times New Roman"/>
              <a:cs typeface="Times New Roman"/>
              <a:sym typeface="Times New Roman"/>
            </a:endParaRPr>
          </a:p>
          <a:p>
            <a:pPr indent="-342900" lvl="0" marL="342900" rtl="0" algn="l">
              <a:spcBef>
                <a:spcPts val="1000"/>
              </a:spcBef>
              <a:spcAft>
                <a:spcPts val="0"/>
              </a:spcAft>
              <a:buSzPts val="1440"/>
              <a:buChar char="►"/>
            </a:pPr>
            <a:r>
              <a:rPr lang="en-US" sz="1800">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Input Layer:</a:t>
            </a:r>
            <a:r>
              <a:rPr lang="en-US" sz="1800">
                <a:latin typeface="Times New Roman"/>
                <a:ea typeface="Times New Roman"/>
                <a:cs typeface="Times New Roman"/>
                <a:sym typeface="Times New Roman"/>
              </a:rPr>
              <a:t> Accepts images of size 256x256 with 3 color channels.</a:t>
            </a:r>
            <a:endParaRPr sz="1800">
              <a:latin typeface="Times New Roman"/>
              <a:ea typeface="Times New Roman"/>
              <a:cs typeface="Times New Roman"/>
              <a:sym typeface="Times New Roman"/>
            </a:endParaRPr>
          </a:p>
          <a:p>
            <a:pPr indent="-342900" lvl="0" marL="342900" rtl="0" algn="l">
              <a:spcBef>
                <a:spcPts val="1000"/>
              </a:spcBef>
              <a:spcAft>
                <a:spcPts val="0"/>
              </a:spcAft>
              <a:buSzPts val="1440"/>
              <a:buChar char="►"/>
            </a:pPr>
            <a:r>
              <a:rPr lang="en-US" sz="1800">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Conv2D Layers:</a:t>
            </a:r>
            <a:r>
              <a:rPr lang="en-US" sz="1800">
                <a:latin typeface="Times New Roman"/>
                <a:ea typeface="Times New Roman"/>
                <a:cs typeface="Times New Roman"/>
                <a:sym typeface="Times New Roman"/>
              </a:rPr>
              <a:t> These convolutional layers extract features from the images.</a:t>
            </a:r>
            <a:endParaRPr sz="1800">
              <a:latin typeface="Times New Roman"/>
              <a:ea typeface="Times New Roman"/>
              <a:cs typeface="Times New Roman"/>
              <a:sym typeface="Times New Roman"/>
            </a:endParaRPr>
          </a:p>
          <a:p>
            <a:pPr indent="-342900" lvl="0" marL="342900" rtl="0" algn="l">
              <a:spcBef>
                <a:spcPts val="1000"/>
              </a:spcBef>
              <a:spcAft>
                <a:spcPts val="0"/>
              </a:spcAft>
              <a:buSzPts val="1440"/>
              <a:buChar char="►"/>
            </a:pPr>
            <a:r>
              <a:rPr lang="en-US" sz="1800">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Pooling Layers:</a:t>
            </a:r>
            <a:r>
              <a:rPr lang="en-US" sz="1800">
                <a:latin typeface="Times New Roman"/>
                <a:ea typeface="Times New Roman"/>
                <a:cs typeface="Times New Roman"/>
                <a:sym typeface="Times New Roman"/>
              </a:rPr>
              <a:t> Used to reduce the size of feature maps, typically employing MaxPooling.</a:t>
            </a:r>
            <a:endParaRPr sz="1800">
              <a:latin typeface="Times New Roman"/>
              <a:ea typeface="Times New Roman"/>
              <a:cs typeface="Times New Roman"/>
              <a:sym typeface="Times New Roman"/>
            </a:endParaRPr>
          </a:p>
          <a:p>
            <a:pPr indent="-342900" lvl="0" marL="342900" rtl="0" algn="l">
              <a:spcBef>
                <a:spcPts val="1000"/>
              </a:spcBef>
              <a:spcAft>
                <a:spcPts val="0"/>
              </a:spcAft>
              <a:buSzPts val="1440"/>
              <a:buChar char="►"/>
            </a:pPr>
            <a:r>
              <a:rPr lang="en-US" sz="1800">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Fully Connected Layers:</a:t>
            </a:r>
            <a:r>
              <a:rPr lang="en-US" sz="1800">
                <a:latin typeface="Times New Roman"/>
                <a:ea typeface="Times New Roman"/>
                <a:cs typeface="Times New Roman"/>
                <a:sym typeface="Times New Roman"/>
              </a:rPr>
              <a:t> Dense layers used for feature classification.</a:t>
            </a:r>
            <a:endParaRPr sz="1800">
              <a:latin typeface="Times New Roman"/>
              <a:ea typeface="Times New Roman"/>
              <a:cs typeface="Times New Roman"/>
              <a:sym typeface="Times New Roman"/>
            </a:endParaRPr>
          </a:p>
          <a:p>
            <a:pPr indent="-342900" lvl="0" marL="342900" rtl="0" algn="l">
              <a:spcBef>
                <a:spcPts val="1000"/>
              </a:spcBef>
              <a:spcAft>
                <a:spcPts val="0"/>
              </a:spcAft>
              <a:buSzPts val="1440"/>
              <a:buChar char="►"/>
            </a:pPr>
            <a:r>
              <a:rPr lang="en-US" sz="1800">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Output Layer:</a:t>
            </a:r>
            <a:r>
              <a:rPr lang="en-US" sz="1800">
                <a:latin typeface="Times New Roman"/>
                <a:ea typeface="Times New Roman"/>
                <a:cs typeface="Times New Roman"/>
                <a:sym typeface="Times New Roman"/>
              </a:rPr>
              <a:t> Utilizes the Softmax activation function to identify the healthy and diseased types categorized into 5 classes.</a:t>
            </a:r>
            <a:endParaRPr sz="1800">
              <a:latin typeface="Times New Roman"/>
              <a:ea typeface="Times New Roman"/>
              <a:cs typeface="Times New Roman"/>
              <a:sym typeface="Times New Roman"/>
            </a:endParaRPr>
          </a:p>
        </p:txBody>
      </p:sp>
      <p:pic>
        <p:nvPicPr>
          <p:cNvPr id="311" name="Google Shape;311;p11"/>
          <p:cNvPicPr preferRelativeResize="0"/>
          <p:nvPr/>
        </p:nvPicPr>
        <p:blipFill>
          <a:blip r:embed="rId3">
            <a:alphaModFix/>
          </a:blip>
          <a:stretch>
            <a:fillRect/>
          </a:stretch>
        </p:blipFill>
        <p:spPr>
          <a:xfrm>
            <a:off x="201250" y="1769693"/>
            <a:ext cx="4910199" cy="24255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2de7668319b_1_20"/>
          <p:cNvSpPr txBox="1"/>
          <p:nvPr>
            <p:ph type="title"/>
          </p:nvPr>
        </p:nvSpPr>
        <p:spPr>
          <a:xfrm>
            <a:off x="645211" y="289843"/>
            <a:ext cx="94047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About Layers</a:t>
            </a:r>
            <a:endParaRPr/>
          </a:p>
        </p:txBody>
      </p:sp>
      <p:sp>
        <p:nvSpPr>
          <p:cNvPr id="317" name="Google Shape;317;g2de7668319b_1_20"/>
          <p:cNvSpPr txBox="1"/>
          <p:nvPr>
            <p:ph idx="1" type="body"/>
          </p:nvPr>
        </p:nvSpPr>
        <p:spPr>
          <a:xfrm>
            <a:off x="6666875" y="839500"/>
            <a:ext cx="4984800" cy="5424600"/>
          </a:xfrm>
          <a:prstGeom prst="rect">
            <a:avLst/>
          </a:prstGeom>
        </p:spPr>
        <p:txBody>
          <a:bodyPr anchorCtr="0" anchor="t" bIns="45700" lIns="91425" spcFirstLastPara="1" rIns="91425" wrap="square" tIns="45700">
            <a:normAutofit fontScale="70000" lnSpcReduction="10000"/>
          </a:bodyPr>
          <a:lstStyle/>
          <a:p>
            <a:pPr indent="0" lvl="0" marL="0" rtl="0" algn="l">
              <a:spcBef>
                <a:spcPts val="1000"/>
              </a:spcBef>
              <a:spcAft>
                <a:spcPts val="0"/>
              </a:spcAft>
              <a:buNone/>
            </a:pPr>
            <a:r>
              <a:rPr lang="en-US"/>
              <a:t>Initially, we set the</a:t>
            </a:r>
            <a:r>
              <a:rPr b="1" lang="en-US"/>
              <a:t> batch size to 32</a:t>
            </a:r>
            <a:r>
              <a:rPr lang="en-US"/>
              <a:t>. This means that 32 iimages are processed at a time. We wanted to use a larger batch size, but Colab and GPUs didn't allow it. Having more GPUs means better training and better predictions for the model. </a:t>
            </a:r>
            <a:endParaRPr/>
          </a:p>
          <a:p>
            <a:pPr indent="0" lvl="0" marL="0" rtl="0" algn="l">
              <a:spcBef>
                <a:spcPts val="1000"/>
              </a:spcBef>
              <a:spcAft>
                <a:spcPts val="0"/>
              </a:spcAft>
              <a:buNone/>
            </a:pPr>
            <a:r>
              <a:rPr lang="en-US"/>
              <a:t>We set the image size to </a:t>
            </a:r>
            <a:r>
              <a:rPr b="1" lang="en-US"/>
              <a:t>256x256</a:t>
            </a:r>
            <a:r>
              <a:rPr lang="en-US"/>
              <a:t> as this size was deemed ideal. We wanted to use larger sizes, but again, Colab and GPUs didn't allow it. The value "3" represents the number of RGB color channels. </a:t>
            </a:r>
            <a:endParaRPr/>
          </a:p>
          <a:p>
            <a:pPr indent="0" lvl="0" marL="0" rtl="0" algn="l">
              <a:spcBef>
                <a:spcPts val="1000"/>
              </a:spcBef>
              <a:spcAft>
                <a:spcPts val="0"/>
              </a:spcAft>
              <a:buNone/>
            </a:pPr>
            <a:r>
              <a:rPr lang="en-US"/>
              <a:t>The first argument, 32, specifies the number of filters in the Conv2D layer. The second argument specifies the filter size. </a:t>
            </a:r>
            <a:endParaRPr/>
          </a:p>
          <a:p>
            <a:pPr indent="0" lvl="0" marL="0" rtl="0" algn="l">
              <a:spcBef>
                <a:spcPts val="1000"/>
              </a:spcBef>
              <a:spcAft>
                <a:spcPts val="0"/>
              </a:spcAft>
              <a:buNone/>
            </a:pPr>
            <a:r>
              <a:rPr lang="en-US"/>
              <a:t>MaxPooling layers are used after Conv layers to reduce the size, preserving the most significant features.</a:t>
            </a:r>
            <a:endParaRPr/>
          </a:p>
          <a:p>
            <a:pPr indent="0" lvl="0" marL="0" rtl="0" algn="l">
              <a:spcBef>
                <a:spcPts val="1000"/>
              </a:spcBef>
              <a:spcAft>
                <a:spcPts val="0"/>
              </a:spcAft>
              <a:buNone/>
            </a:pPr>
            <a:r>
              <a:rPr lang="en-US"/>
              <a:t>Dense layers are connected to all elements in the previous layer and are used to classify feature vectors. The Flatten layer converts the outputs of convolutional and pooling layers into a flat vector compatible with fully connected layers. </a:t>
            </a:r>
            <a:endParaRPr/>
          </a:p>
          <a:p>
            <a:pPr indent="0" lvl="0" marL="0" rtl="0" algn="l">
              <a:spcBef>
                <a:spcPts val="1000"/>
              </a:spcBef>
              <a:spcAft>
                <a:spcPts val="0"/>
              </a:spcAft>
              <a:buNone/>
            </a:pPr>
            <a:r>
              <a:rPr lang="en-US"/>
              <a:t>The Dropout layer helps prevent overfitting by randomly dropping inputs during training, allowing the network to learn different features. Finally, since there are 5 classes in our model, the Dense layer is set to softmax to get 5 different outputs.</a:t>
            </a:r>
            <a:endParaRPr/>
          </a:p>
        </p:txBody>
      </p:sp>
      <p:pic>
        <p:nvPicPr>
          <p:cNvPr id="318" name="Google Shape;318;g2de7668319b_1_20"/>
          <p:cNvPicPr preferRelativeResize="0"/>
          <p:nvPr/>
        </p:nvPicPr>
        <p:blipFill>
          <a:blip r:embed="rId3">
            <a:alphaModFix/>
          </a:blip>
          <a:stretch>
            <a:fillRect/>
          </a:stretch>
        </p:blipFill>
        <p:spPr>
          <a:xfrm>
            <a:off x="152400" y="1842643"/>
            <a:ext cx="6362075" cy="3833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2de7668319b_1_33"/>
          <p:cNvSpPr txBox="1"/>
          <p:nvPr>
            <p:ph type="title"/>
          </p:nvPr>
        </p:nvSpPr>
        <p:spPr>
          <a:xfrm>
            <a:off x="646111" y="452718"/>
            <a:ext cx="94047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Model Summary</a:t>
            </a:r>
            <a:endParaRPr/>
          </a:p>
        </p:txBody>
      </p:sp>
      <p:sp>
        <p:nvSpPr>
          <p:cNvPr id="324" name="Google Shape;324;g2de7668319b_1_33"/>
          <p:cNvSpPr txBox="1"/>
          <p:nvPr>
            <p:ph idx="1" type="body"/>
          </p:nvPr>
        </p:nvSpPr>
        <p:spPr>
          <a:xfrm>
            <a:off x="574499" y="1539925"/>
            <a:ext cx="4153800" cy="48387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As observed, there are 11008837 trainable parameters. Having more parameters could potentially yield better results, but due to the large size of the training dataset, GPUs are most effectively utilized with image sizes set to 256x256.</a:t>
            </a:r>
            <a:endParaRPr/>
          </a:p>
        </p:txBody>
      </p:sp>
      <p:pic>
        <p:nvPicPr>
          <p:cNvPr id="325" name="Google Shape;325;g2de7668319b_1_33"/>
          <p:cNvPicPr preferRelativeResize="0"/>
          <p:nvPr/>
        </p:nvPicPr>
        <p:blipFill>
          <a:blip r:embed="rId3">
            <a:alphaModFix/>
          </a:blip>
          <a:stretch>
            <a:fillRect/>
          </a:stretch>
        </p:blipFill>
        <p:spPr>
          <a:xfrm>
            <a:off x="6346775" y="346425"/>
            <a:ext cx="4229575" cy="61651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sz="3600">
                <a:latin typeface="Times New Roman"/>
                <a:ea typeface="Times New Roman"/>
                <a:cs typeface="Times New Roman"/>
                <a:sym typeface="Times New Roman"/>
              </a:rPr>
              <a:t>RESULT OF THE </a:t>
            </a:r>
            <a:r>
              <a:rPr lang="en-US" sz="3600">
                <a:latin typeface="Times New Roman"/>
                <a:ea typeface="Times New Roman"/>
                <a:cs typeface="Times New Roman"/>
                <a:sym typeface="Times New Roman"/>
              </a:rPr>
              <a:t>TRAINİNG</a:t>
            </a:r>
            <a:endParaRPr/>
          </a:p>
        </p:txBody>
      </p:sp>
      <p:sp>
        <p:nvSpPr>
          <p:cNvPr id="331" name="Google Shape;331;p12"/>
          <p:cNvSpPr txBox="1"/>
          <p:nvPr>
            <p:ph idx="1" type="body"/>
          </p:nvPr>
        </p:nvSpPr>
        <p:spPr>
          <a:xfrm>
            <a:off x="1935375" y="1381075"/>
            <a:ext cx="7044600" cy="5156400"/>
          </a:xfrm>
          <a:prstGeom prst="rect">
            <a:avLst/>
          </a:prstGeom>
          <a:noFill/>
          <a:ln>
            <a:noFill/>
          </a:ln>
        </p:spPr>
        <p:txBody>
          <a:bodyPr anchorCtr="0" anchor="t" bIns="45700" lIns="91425" spcFirstLastPara="1" rIns="91425" wrap="square" tIns="45700">
            <a:noAutofit/>
          </a:bodyPr>
          <a:lstStyle/>
          <a:p>
            <a:pPr indent="-342900" lvl="0" marL="342900" rtl="0" algn="l">
              <a:spcBef>
                <a:spcPts val="1000"/>
              </a:spcBef>
              <a:spcAft>
                <a:spcPts val="0"/>
              </a:spcAft>
              <a:buSzPts val="1440"/>
              <a:buChar char="►"/>
            </a:pPr>
            <a:r>
              <a:rPr lang="en-US" sz="1800">
                <a:latin typeface="Times New Roman"/>
                <a:ea typeface="Times New Roman"/>
                <a:cs typeface="Times New Roman"/>
                <a:sym typeface="Times New Roman"/>
              </a:rPr>
              <a:t>After setting the necessary parameters and training the model, within the code, we split all the training data into 80% for training, 10% for validation, and the remaining 10% for testing. Following the training, the model was tested with internally selected data, resulting in an </a:t>
            </a:r>
            <a:endParaRPr sz="1800">
              <a:latin typeface="Times New Roman"/>
              <a:ea typeface="Times New Roman"/>
              <a:cs typeface="Times New Roman"/>
              <a:sym typeface="Times New Roman"/>
            </a:endParaRPr>
          </a:p>
          <a:p>
            <a:pPr indent="-342900" lvl="0" marL="342900" rtl="0" algn="l">
              <a:spcBef>
                <a:spcPts val="1000"/>
              </a:spcBef>
              <a:spcAft>
                <a:spcPts val="0"/>
              </a:spcAft>
              <a:buSzPts val="1440"/>
              <a:buChar char="►"/>
            </a:pPr>
            <a:r>
              <a:rPr lang="en-US" sz="1800">
                <a:latin typeface="Times New Roman"/>
                <a:ea typeface="Times New Roman"/>
                <a:cs typeface="Times New Roman"/>
                <a:sym typeface="Times New Roman"/>
              </a:rPr>
              <a:t>Training Accuracy :  %92.04</a:t>
            </a:r>
            <a:endParaRPr sz="1800">
              <a:latin typeface="Times New Roman"/>
              <a:ea typeface="Times New Roman"/>
              <a:cs typeface="Times New Roman"/>
              <a:sym typeface="Times New Roman"/>
            </a:endParaRPr>
          </a:p>
          <a:p>
            <a:pPr indent="-342900" lvl="0" marL="342900" rtl="0" algn="l">
              <a:spcBef>
                <a:spcPts val="1000"/>
              </a:spcBef>
              <a:spcAft>
                <a:spcPts val="0"/>
              </a:spcAft>
              <a:buSzPts val="1440"/>
              <a:buChar char="►"/>
            </a:pPr>
            <a:r>
              <a:rPr lang="en-US" sz="1800">
                <a:latin typeface="Times New Roman"/>
                <a:ea typeface="Times New Roman"/>
                <a:cs typeface="Times New Roman"/>
                <a:sym typeface="Times New Roman"/>
              </a:rPr>
              <a:t>Training Loss: %57.51</a:t>
            </a:r>
            <a:endParaRPr sz="1800">
              <a:latin typeface="Times New Roman"/>
              <a:ea typeface="Times New Roman"/>
              <a:cs typeface="Times New Roman"/>
              <a:sym typeface="Times New Roman"/>
            </a:endParaRPr>
          </a:p>
          <a:p>
            <a:pPr indent="-365760" lvl="0" marL="342900" rtl="0" algn="l">
              <a:spcBef>
                <a:spcPts val="1000"/>
              </a:spcBef>
              <a:spcAft>
                <a:spcPts val="0"/>
              </a:spcAft>
              <a:buSzPts val="1800"/>
              <a:buFont typeface="Times New Roman"/>
              <a:buChar char="►"/>
            </a:pPr>
            <a:r>
              <a:t/>
            </a:r>
            <a:endParaRPr sz="1800">
              <a:latin typeface="Times New Roman"/>
              <a:ea typeface="Times New Roman"/>
              <a:cs typeface="Times New Roman"/>
              <a:sym typeface="Times New Roman"/>
            </a:endParaRPr>
          </a:p>
        </p:txBody>
      </p:sp>
    </p:spTree>
  </p:cSld>
  <p:clrMapOvr>
    <a:masterClrMapping/>
  </p:clrMapOvr>
  <p:transition spd="slow" p14:dur="2500">
    <p:checker/>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4"/>
          <p:cNvSpPr txBox="1"/>
          <p:nvPr>
            <p:ph type="title"/>
          </p:nvPr>
        </p:nvSpPr>
        <p:spPr>
          <a:xfrm>
            <a:off x="711286" y="126918"/>
            <a:ext cx="9404700" cy="140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lt2"/>
              </a:buClr>
              <a:buSzPts val="3600"/>
              <a:buFont typeface="Times New Roman"/>
              <a:buNone/>
            </a:pPr>
            <a:r>
              <a:rPr lang="en-US" sz="3600">
                <a:latin typeface="Times New Roman"/>
                <a:ea typeface="Times New Roman"/>
                <a:cs typeface="Times New Roman"/>
                <a:sym typeface="Times New Roman"/>
              </a:rPr>
              <a:t>FİRST RESULT</a:t>
            </a:r>
            <a:endParaRPr/>
          </a:p>
        </p:txBody>
      </p:sp>
      <p:sp>
        <p:nvSpPr>
          <p:cNvPr id="337" name="Google Shape;337;p14"/>
          <p:cNvSpPr txBox="1"/>
          <p:nvPr>
            <p:ph idx="1" type="body"/>
          </p:nvPr>
        </p:nvSpPr>
        <p:spPr>
          <a:xfrm>
            <a:off x="264975" y="4993375"/>
            <a:ext cx="10653600" cy="1531500"/>
          </a:xfrm>
          <a:prstGeom prst="rect">
            <a:avLst/>
          </a:prstGeom>
          <a:noFill/>
          <a:ln>
            <a:noFill/>
          </a:ln>
        </p:spPr>
        <p:txBody>
          <a:bodyPr anchorCtr="0" anchor="t" bIns="45700" lIns="91425" spcFirstLastPara="1" rIns="91425" wrap="square" tIns="45700">
            <a:normAutofit/>
          </a:bodyPr>
          <a:lstStyle/>
          <a:p>
            <a:pPr indent="-241300" lvl="0" marL="342900" rtl="0" algn="l">
              <a:spcBef>
                <a:spcPts val="0"/>
              </a:spcBef>
              <a:spcAft>
                <a:spcPts val="0"/>
              </a:spcAft>
              <a:buSzPts val="1600"/>
              <a:buNone/>
            </a:pPr>
            <a:r>
              <a:rPr lang="en-US"/>
              <a:t>As seen here, a model was trained from </a:t>
            </a:r>
            <a:r>
              <a:rPr b="1" lang="en-US"/>
              <a:t>scratch</a:t>
            </a:r>
            <a:r>
              <a:rPr lang="en-US"/>
              <a:t>, but it </a:t>
            </a:r>
            <a:r>
              <a:rPr b="1" lang="en-US"/>
              <a:t>didn't perform well</a:t>
            </a:r>
            <a:r>
              <a:rPr lang="en-US"/>
              <a:t>. Therefore, this model, which suffered from </a:t>
            </a:r>
            <a:r>
              <a:rPr b="1" lang="en-US"/>
              <a:t>overfitting</a:t>
            </a:r>
            <a:r>
              <a:rPr lang="en-US"/>
              <a:t>, was not used.Additionally, despite setting the epoch to 200, the training was completed very quickly, as seen, in around 12 epochs, which is a </a:t>
            </a:r>
            <a:r>
              <a:rPr b="1" lang="en-US"/>
              <a:t>very short duration.</a:t>
            </a:r>
            <a:endParaRPr b="1"/>
          </a:p>
        </p:txBody>
      </p:sp>
      <p:pic>
        <p:nvPicPr>
          <p:cNvPr id="338" name="Google Shape;338;p14"/>
          <p:cNvPicPr preferRelativeResize="0"/>
          <p:nvPr/>
        </p:nvPicPr>
        <p:blipFill>
          <a:blip r:embed="rId3">
            <a:alphaModFix/>
          </a:blip>
          <a:stretch>
            <a:fillRect/>
          </a:stretch>
        </p:blipFill>
        <p:spPr>
          <a:xfrm>
            <a:off x="2456252" y="1174900"/>
            <a:ext cx="6742726" cy="3590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2de868f00e4_0_38"/>
          <p:cNvSpPr txBox="1"/>
          <p:nvPr>
            <p:ph type="title"/>
          </p:nvPr>
        </p:nvSpPr>
        <p:spPr>
          <a:xfrm>
            <a:off x="352899" y="240975"/>
            <a:ext cx="10093200" cy="1400400"/>
          </a:xfrm>
          <a:prstGeom prst="rect">
            <a:avLst/>
          </a:prstGeom>
        </p:spPr>
        <p:txBody>
          <a:bodyPr anchorCtr="0" anchor="t" bIns="45700" lIns="91425" spcFirstLastPara="1" rIns="91425" wrap="square" tIns="45700">
            <a:noAutofit/>
          </a:bodyPr>
          <a:lstStyle/>
          <a:p>
            <a:pPr indent="457200" lvl="0" marL="3200400" rtl="0" algn="l">
              <a:spcBef>
                <a:spcPts val="0"/>
              </a:spcBef>
              <a:spcAft>
                <a:spcPts val="0"/>
              </a:spcAft>
              <a:buNone/>
            </a:pPr>
            <a:r>
              <a:rPr lang="en-US"/>
              <a:t>Second Result</a:t>
            </a:r>
            <a:endParaRPr/>
          </a:p>
        </p:txBody>
      </p:sp>
      <p:sp>
        <p:nvSpPr>
          <p:cNvPr id="344" name="Google Shape;344;g2de868f00e4_0_38"/>
          <p:cNvSpPr txBox="1"/>
          <p:nvPr>
            <p:ph idx="1" type="body"/>
          </p:nvPr>
        </p:nvSpPr>
        <p:spPr>
          <a:xfrm>
            <a:off x="1313988" y="5302845"/>
            <a:ext cx="8946600" cy="1173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After carefully adjusting the model parameters and layers, we conducted another training and testing experiment, and the results are as seen.</a:t>
            </a:r>
            <a:endParaRPr/>
          </a:p>
        </p:txBody>
      </p:sp>
      <p:pic>
        <p:nvPicPr>
          <p:cNvPr id="345" name="Google Shape;345;g2de868f00e4_0_38"/>
          <p:cNvPicPr preferRelativeResize="0"/>
          <p:nvPr/>
        </p:nvPicPr>
        <p:blipFill>
          <a:blip r:embed="rId3">
            <a:alphaModFix/>
          </a:blip>
          <a:stretch>
            <a:fillRect/>
          </a:stretch>
        </p:blipFill>
        <p:spPr>
          <a:xfrm>
            <a:off x="1960550" y="1223650"/>
            <a:ext cx="7182375" cy="3804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13"/>
          <p:cNvSpPr txBox="1"/>
          <p:nvPr>
            <p:ph type="title"/>
          </p:nvPr>
        </p:nvSpPr>
        <p:spPr>
          <a:xfrm>
            <a:off x="646111" y="452718"/>
            <a:ext cx="9404723" cy="10308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lt2"/>
              </a:buClr>
              <a:buSzPts val="3600"/>
              <a:buFont typeface="Times New Roman"/>
              <a:buNone/>
            </a:pPr>
            <a:r>
              <a:rPr lang="en-US" sz="3600">
                <a:latin typeface="Times New Roman"/>
                <a:ea typeface="Times New Roman"/>
                <a:cs typeface="Times New Roman"/>
                <a:sym typeface="Times New Roman"/>
              </a:rPr>
              <a:t>CONCLUSION</a:t>
            </a:r>
            <a:endParaRPr sz="3600">
              <a:latin typeface="Times New Roman"/>
              <a:ea typeface="Times New Roman"/>
              <a:cs typeface="Times New Roman"/>
              <a:sym typeface="Times New Roman"/>
            </a:endParaRPr>
          </a:p>
        </p:txBody>
      </p:sp>
      <p:sp>
        <p:nvSpPr>
          <p:cNvPr id="351" name="Google Shape;351;p13"/>
          <p:cNvSpPr txBox="1"/>
          <p:nvPr>
            <p:ph idx="1" type="body"/>
          </p:nvPr>
        </p:nvSpPr>
        <p:spPr>
          <a:xfrm>
            <a:off x="1103312" y="1352940"/>
            <a:ext cx="9701537" cy="489546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sz="1800">
                <a:latin typeface="Times New Roman"/>
                <a:ea typeface="Times New Roman"/>
                <a:cs typeface="Times New Roman"/>
                <a:sym typeface="Times New Roman"/>
              </a:rPr>
              <a:t>In this project, we developed a deep learning-based model to classify diseases in cassava plants. Initially, images of size 800x600 were resized to 256x256, and the model was trained. During training, </a:t>
            </a:r>
            <a:r>
              <a:rPr b="1" lang="en-US" sz="1800">
                <a:latin typeface="Times New Roman"/>
                <a:ea typeface="Times New Roman"/>
                <a:cs typeface="Times New Roman"/>
                <a:sym typeface="Times New Roman"/>
              </a:rPr>
              <a:t>early stopping</a:t>
            </a:r>
            <a:r>
              <a:rPr lang="en-US" sz="1800">
                <a:latin typeface="Times New Roman"/>
                <a:ea typeface="Times New Roman"/>
                <a:cs typeface="Times New Roman"/>
                <a:sym typeface="Times New Roman"/>
              </a:rPr>
              <a:t> was employed to </a:t>
            </a:r>
            <a:r>
              <a:rPr b="1" lang="en-US" sz="1800">
                <a:latin typeface="Times New Roman"/>
                <a:ea typeface="Times New Roman"/>
                <a:cs typeface="Times New Roman"/>
                <a:sym typeface="Times New Roman"/>
              </a:rPr>
              <a:t>prevent overfitting. </a:t>
            </a:r>
            <a:r>
              <a:rPr lang="en-US" sz="1800">
                <a:latin typeface="Times New Roman"/>
                <a:ea typeface="Times New Roman"/>
                <a:cs typeface="Times New Roman"/>
                <a:sym typeface="Times New Roman"/>
              </a:rPr>
              <a:t>Results were evaluated by examining accuracy and loss graphs of the model, leading to successful classification.</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457200" rtl="0" algn="l">
              <a:spcBef>
                <a:spcPts val="0"/>
              </a:spcBef>
              <a:spcAft>
                <a:spcPts val="0"/>
              </a:spcAft>
              <a:buNone/>
            </a:pPr>
            <a:r>
              <a:rPr lang="en-US" sz="1800">
                <a:latin typeface="Times New Roman"/>
                <a:ea typeface="Times New Roman"/>
                <a:cs typeface="Times New Roman"/>
                <a:sym typeface="Times New Roman"/>
              </a:rPr>
              <a:t>As a result, the model was saved as an </a:t>
            </a:r>
            <a:r>
              <a:rPr b="1" lang="en-US" sz="1800">
                <a:latin typeface="Times New Roman"/>
                <a:ea typeface="Times New Roman"/>
                <a:cs typeface="Times New Roman"/>
                <a:sym typeface="Times New Roman"/>
              </a:rPr>
              <a:t>h5 fil</a:t>
            </a:r>
            <a:r>
              <a:rPr lang="en-US" sz="1800">
                <a:latin typeface="Times New Roman"/>
                <a:ea typeface="Times New Roman"/>
                <a:cs typeface="Times New Roman"/>
                <a:sym typeface="Times New Roman"/>
              </a:rPr>
              <a:t>e, and the accuracy was calculated as 59.80% with 500 test data points.</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15"/>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sz="3600">
                <a:latin typeface="Times New Roman"/>
                <a:ea typeface="Times New Roman"/>
                <a:cs typeface="Times New Roman"/>
                <a:sym typeface="Times New Roman"/>
              </a:rPr>
              <a:t> </a:t>
            </a:r>
            <a:r>
              <a:rPr lang="en-US" sz="3600">
                <a:latin typeface="Times New Roman"/>
                <a:ea typeface="Times New Roman"/>
                <a:cs typeface="Times New Roman"/>
                <a:sym typeface="Times New Roman"/>
              </a:rPr>
              <a:t>Future</a:t>
            </a:r>
            <a:r>
              <a:rPr lang="en-US" sz="3600">
                <a:latin typeface="Times New Roman"/>
                <a:ea typeface="Times New Roman"/>
                <a:cs typeface="Times New Roman"/>
                <a:sym typeface="Times New Roman"/>
              </a:rPr>
              <a:t> Work</a:t>
            </a:r>
            <a:endParaRPr/>
          </a:p>
        </p:txBody>
      </p:sp>
      <p:sp>
        <p:nvSpPr>
          <p:cNvPr id="357" name="Google Shape;357;p15"/>
          <p:cNvSpPr txBox="1"/>
          <p:nvPr>
            <p:ph idx="1" type="body"/>
          </p:nvPr>
        </p:nvSpPr>
        <p:spPr>
          <a:xfrm>
            <a:off x="238164" y="1148318"/>
            <a:ext cx="11398429" cy="542758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t/>
            </a:r>
            <a:endParaRPr sz="1800">
              <a:latin typeface="Times New Roman"/>
              <a:ea typeface="Times New Roman"/>
              <a:cs typeface="Times New Roman"/>
              <a:sym typeface="Times New Roman"/>
            </a:endParaRPr>
          </a:p>
          <a:p>
            <a:pPr indent="0" lvl="0" marL="0" rtl="0" algn="l">
              <a:spcBef>
                <a:spcPts val="1000"/>
              </a:spcBef>
              <a:spcAft>
                <a:spcPts val="0"/>
              </a:spcAft>
              <a:buNone/>
            </a:pPr>
            <a:r>
              <a:rPr lang="en-US" sz="1800">
                <a:latin typeface="Times New Roman"/>
                <a:ea typeface="Times New Roman"/>
                <a:cs typeface="Times New Roman"/>
                <a:sym typeface="Times New Roman"/>
              </a:rPr>
              <a:t>In the future, to enhance the model's performance,</a:t>
            </a:r>
            <a:r>
              <a:rPr b="1" lang="en-US" sz="1800">
                <a:latin typeface="Times New Roman"/>
                <a:ea typeface="Times New Roman"/>
                <a:cs typeface="Times New Roman"/>
                <a:sym typeface="Times New Roman"/>
              </a:rPr>
              <a:t> higher-quality images</a:t>
            </a:r>
            <a:r>
              <a:rPr lang="en-US" sz="1800">
                <a:latin typeface="Times New Roman"/>
                <a:ea typeface="Times New Roman"/>
                <a:cs typeface="Times New Roman"/>
                <a:sym typeface="Times New Roman"/>
              </a:rPr>
              <a:t> can be utilized, and </a:t>
            </a:r>
            <a:r>
              <a:rPr b="1" lang="en-US" sz="1800">
                <a:latin typeface="Times New Roman"/>
                <a:ea typeface="Times New Roman"/>
                <a:cs typeface="Times New Roman"/>
                <a:sym typeface="Times New Roman"/>
              </a:rPr>
              <a:t>class-specific preprocessing</a:t>
            </a:r>
            <a:r>
              <a:rPr lang="en-US" sz="1800">
                <a:latin typeface="Times New Roman"/>
                <a:ea typeface="Times New Roman"/>
                <a:cs typeface="Times New Roman"/>
                <a:sym typeface="Times New Roman"/>
              </a:rPr>
              <a:t> can be applied. Moreover, integration of deep learning models into </a:t>
            </a:r>
            <a:r>
              <a:rPr b="1" lang="en-US" sz="1800">
                <a:latin typeface="Times New Roman"/>
                <a:ea typeface="Times New Roman"/>
                <a:cs typeface="Times New Roman"/>
                <a:sym typeface="Times New Roman"/>
              </a:rPr>
              <a:t>portable devices </a:t>
            </a:r>
            <a:r>
              <a:rPr lang="en-US" sz="1800">
                <a:latin typeface="Times New Roman"/>
                <a:ea typeface="Times New Roman"/>
                <a:cs typeface="Times New Roman"/>
                <a:sym typeface="Times New Roman"/>
              </a:rPr>
              <a:t>and experimentation with different model settings using more computational resources are planned. These endeavors will significantly contribute to early and accurate diagnosis of cassava diseases.</a:t>
            </a:r>
            <a:endParaRPr sz="1800">
              <a:latin typeface="Times New Roman"/>
              <a:ea typeface="Times New Roman"/>
              <a:cs typeface="Times New Roman"/>
              <a:sym typeface="Times New Roman"/>
            </a:endParaRPr>
          </a:p>
          <a:p>
            <a:pPr indent="0" lvl="0" marL="0" rtl="0" algn="l">
              <a:spcBef>
                <a:spcPts val="1000"/>
              </a:spcBef>
              <a:spcAft>
                <a:spcPts val="0"/>
              </a:spcAft>
              <a:buNone/>
            </a:pPr>
            <a:r>
              <a:t/>
            </a:r>
            <a:endParaRPr sz="1800">
              <a:latin typeface="Times New Roman"/>
              <a:ea typeface="Times New Roman"/>
              <a:cs typeface="Times New Roman"/>
              <a:sym typeface="Times New Roman"/>
            </a:endParaRPr>
          </a:p>
          <a:p>
            <a:pPr indent="0" lvl="0" marL="0" rtl="0" algn="l">
              <a:spcBef>
                <a:spcPts val="1000"/>
              </a:spcBef>
              <a:spcAft>
                <a:spcPts val="0"/>
              </a:spcAft>
              <a:buNone/>
            </a:pPr>
            <a:r>
              <a:rPr lang="en-US" sz="1800">
                <a:latin typeface="Times New Roman"/>
                <a:ea typeface="Times New Roman"/>
                <a:cs typeface="Times New Roman"/>
                <a:sym typeface="Times New Roman"/>
              </a:rPr>
              <a:t>The dataset's reliability is compromised as images are captured directly by farmers using their phones in the fields, leading to </a:t>
            </a:r>
            <a:r>
              <a:rPr b="1" lang="en-US" sz="1800">
                <a:latin typeface="Times New Roman"/>
                <a:ea typeface="Times New Roman"/>
                <a:cs typeface="Times New Roman"/>
                <a:sym typeface="Times New Roman"/>
              </a:rPr>
              <a:t>background noise</a:t>
            </a:r>
            <a:r>
              <a:rPr lang="en-US" sz="1800">
                <a:latin typeface="Times New Roman"/>
                <a:ea typeface="Times New Roman"/>
                <a:cs typeface="Times New Roman"/>
                <a:sym typeface="Times New Roman"/>
              </a:rPr>
              <a:t> exposure. </a:t>
            </a:r>
            <a:r>
              <a:rPr b="1" lang="en-US" sz="1800">
                <a:latin typeface="Times New Roman"/>
                <a:ea typeface="Times New Roman"/>
                <a:cs typeface="Times New Roman"/>
                <a:sym typeface="Times New Roman"/>
              </a:rPr>
              <a:t>Higher-quality images</a:t>
            </a:r>
            <a:r>
              <a:rPr lang="en-US" sz="1800">
                <a:latin typeface="Times New Roman"/>
                <a:ea typeface="Times New Roman"/>
                <a:cs typeface="Times New Roman"/>
                <a:sym typeface="Times New Roman"/>
              </a:rPr>
              <a:t> could have improved the model's </a:t>
            </a:r>
            <a:r>
              <a:rPr b="1" lang="en-US" sz="1800">
                <a:latin typeface="Times New Roman"/>
                <a:ea typeface="Times New Roman"/>
                <a:cs typeface="Times New Roman"/>
                <a:sym typeface="Times New Roman"/>
              </a:rPr>
              <a:t>robustness</a:t>
            </a:r>
            <a:r>
              <a:rPr lang="en-US" sz="1800">
                <a:latin typeface="Times New Roman"/>
                <a:ea typeface="Times New Roman"/>
                <a:cs typeface="Times New Roman"/>
                <a:sym typeface="Times New Roman"/>
              </a:rPr>
              <a:t>. Another limitation was computational resources; despite using Google Colab, the allocated GPUs were insufficient for experimenting with various model settings to enhance performance.</a:t>
            </a:r>
            <a:endParaRPr sz="1800">
              <a:latin typeface="Times New Roman"/>
              <a:ea typeface="Times New Roman"/>
              <a:cs typeface="Times New Roman"/>
              <a:sym typeface="Times New Roman"/>
            </a:endParaRPr>
          </a:p>
          <a:p>
            <a:pPr indent="0" lvl="0" marL="0" rtl="0" algn="l">
              <a:spcBef>
                <a:spcPts val="1000"/>
              </a:spcBef>
              <a:spcAft>
                <a:spcPts val="0"/>
              </a:spcAft>
              <a:buNone/>
            </a:pPr>
            <a:r>
              <a:t/>
            </a:r>
            <a:endParaRPr sz="1800">
              <a:latin typeface="Times New Roman"/>
              <a:ea typeface="Times New Roman"/>
              <a:cs typeface="Times New Roman"/>
              <a:sym typeface="Times New Roman"/>
            </a:endParaRPr>
          </a:p>
          <a:p>
            <a:pPr indent="-251459" lvl="0" marL="342900" rtl="0" algn="l">
              <a:spcBef>
                <a:spcPts val="1000"/>
              </a:spcBef>
              <a:spcAft>
                <a:spcPts val="0"/>
              </a:spcAft>
              <a:buSzPts val="1440"/>
              <a:buNone/>
            </a:pPr>
            <a:r>
              <a:t/>
            </a:r>
            <a:endParaRPr sz="18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16"/>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3600"/>
              <a:buFont typeface="Times New Roman"/>
              <a:buNone/>
            </a:pPr>
            <a:r>
              <a:rPr i="0" lang="en-US" sz="3600" u="none" strike="noStrike">
                <a:solidFill>
                  <a:schemeClr val="lt1"/>
                </a:solidFill>
                <a:latin typeface="Times New Roman"/>
                <a:ea typeface="Times New Roman"/>
                <a:cs typeface="Times New Roman"/>
                <a:sym typeface="Times New Roman"/>
              </a:rPr>
              <a:t>TECHNICAL CONSTRUCTIONS</a:t>
            </a:r>
            <a:endParaRPr sz="3600">
              <a:solidFill>
                <a:schemeClr val="lt1"/>
              </a:solidFill>
              <a:latin typeface="Times New Roman"/>
              <a:ea typeface="Times New Roman"/>
              <a:cs typeface="Times New Roman"/>
              <a:sym typeface="Times New Roman"/>
            </a:endParaRPr>
          </a:p>
        </p:txBody>
      </p:sp>
      <p:sp>
        <p:nvSpPr>
          <p:cNvPr id="363" name="Google Shape;363;p16"/>
          <p:cNvSpPr txBox="1"/>
          <p:nvPr>
            <p:ph idx="1" type="body"/>
          </p:nvPr>
        </p:nvSpPr>
        <p:spPr>
          <a:xfrm>
            <a:off x="774840" y="1520259"/>
            <a:ext cx="5321160" cy="271584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440"/>
              <a:buFont typeface="Arial"/>
              <a:buChar char="•"/>
            </a:pPr>
            <a:r>
              <a:rPr b="0" i="0" lang="en-US" sz="1800" u="sng" strike="noStrike">
                <a:solidFill>
                  <a:schemeClr val="hlink"/>
                </a:solidFill>
                <a:latin typeface="Times New Roman"/>
                <a:ea typeface="Times New Roman"/>
                <a:cs typeface="Times New Roman"/>
                <a:sym typeface="Times New Roman"/>
                <a:hlinkClick r:id="rId3"/>
              </a:rPr>
              <a:t>https://colab.google/</a:t>
            </a:r>
            <a:r>
              <a:rPr b="0" i="0" lang="en-US" sz="1800" u="sng" strike="noStrike">
                <a:latin typeface="Times New Roman"/>
                <a:ea typeface="Times New Roman"/>
                <a:cs typeface="Times New Roman"/>
                <a:sym typeface="Times New Roman"/>
              </a:rPr>
              <a:t> (Nvidia Tesla T4 16GB RAM)</a:t>
            </a:r>
            <a:endParaRPr/>
          </a:p>
          <a:p>
            <a:pPr indent="-251459" lvl="0" marL="342900" rtl="0" algn="just">
              <a:spcBef>
                <a:spcPts val="0"/>
              </a:spcBef>
              <a:spcAft>
                <a:spcPts val="0"/>
              </a:spcAft>
              <a:buSzPts val="1440"/>
              <a:buFont typeface="Arial"/>
              <a:buNone/>
            </a:pPr>
            <a:r>
              <a:t/>
            </a:r>
            <a:endParaRPr b="0" i="0" sz="1800" u="none" strike="noStrike">
              <a:latin typeface="Times New Roman"/>
              <a:ea typeface="Times New Roman"/>
              <a:cs typeface="Times New Roman"/>
              <a:sym typeface="Times New Roman"/>
            </a:endParaRPr>
          </a:p>
          <a:p>
            <a:pPr indent="-342900" lvl="0" marL="342900" rtl="0" algn="just">
              <a:spcBef>
                <a:spcPts val="0"/>
              </a:spcBef>
              <a:spcAft>
                <a:spcPts val="0"/>
              </a:spcAft>
              <a:buSzPts val="1440"/>
              <a:buFont typeface="Arial"/>
              <a:buChar char="•"/>
            </a:pPr>
            <a:r>
              <a:rPr b="0" i="0" lang="en-US" sz="1800" u="none" strike="noStrike">
                <a:latin typeface="Times New Roman"/>
                <a:ea typeface="Times New Roman"/>
                <a:cs typeface="Times New Roman"/>
                <a:sym typeface="Times New Roman"/>
              </a:rPr>
              <a:t>TensorFlow (Python, C, Java, Go, JavaScript, Swift):</a:t>
            </a:r>
            <a:r>
              <a:rPr b="0" i="0" lang="en-US" sz="1800" u="sng" strike="noStrike">
                <a:solidFill>
                  <a:schemeClr val="hlink"/>
                </a:solidFill>
                <a:latin typeface="Times New Roman"/>
                <a:ea typeface="Times New Roman"/>
                <a:cs typeface="Times New Roman"/>
                <a:sym typeface="Times New Roman"/>
                <a:hlinkClick r:id="rId4"/>
              </a:rPr>
              <a:t> https://www.tensorflow.org/</a:t>
            </a:r>
            <a:endParaRPr b="0" i="0" sz="1800" u="sng" strike="noStrike">
              <a:latin typeface="Times New Roman"/>
              <a:ea typeface="Times New Roman"/>
              <a:cs typeface="Times New Roman"/>
              <a:sym typeface="Times New Roman"/>
            </a:endParaRPr>
          </a:p>
          <a:p>
            <a:pPr indent="-251459" lvl="0" marL="342900" rtl="0" algn="just">
              <a:spcBef>
                <a:spcPts val="0"/>
              </a:spcBef>
              <a:spcAft>
                <a:spcPts val="0"/>
              </a:spcAft>
              <a:buSzPts val="1440"/>
              <a:buFont typeface="Arial"/>
              <a:buNone/>
            </a:pPr>
            <a:r>
              <a:t/>
            </a:r>
            <a:endParaRPr b="0" i="0" sz="1800" u="none" strike="noStrike">
              <a:latin typeface="Times New Roman"/>
              <a:ea typeface="Times New Roman"/>
              <a:cs typeface="Times New Roman"/>
              <a:sym typeface="Times New Roman"/>
            </a:endParaRPr>
          </a:p>
          <a:p>
            <a:pPr indent="-342900" lvl="0" marL="342900" rtl="0" algn="just">
              <a:spcBef>
                <a:spcPts val="0"/>
              </a:spcBef>
              <a:spcAft>
                <a:spcPts val="0"/>
              </a:spcAft>
              <a:buSzPts val="1440"/>
              <a:buFont typeface="Arial"/>
              <a:buChar char="•"/>
            </a:pPr>
            <a:r>
              <a:rPr b="0" i="0" lang="en-US" sz="1800" u="none" strike="noStrike">
                <a:latin typeface="Times New Roman"/>
                <a:ea typeface="Times New Roman"/>
                <a:cs typeface="Times New Roman"/>
                <a:sym typeface="Times New Roman"/>
              </a:rPr>
              <a:t>Keras (Python):</a:t>
            </a:r>
            <a:r>
              <a:rPr b="0" i="0" lang="en-US" sz="1800" u="sng" strike="noStrike">
                <a:solidFill>
                  <a:schemeClr val="hlink"/>
                </a:solidFill>
                <a:latin typeface="Times New Roman"/>
                <a:ea typeface="Times New Roman"/>
                <a:cs typeface="Times New Roman"/>
                <a:sym typeface="Times New Roman"/>
                <a:hlinkClick r:id="rId5"/>
              </a:rPr>
              <a:t> https://keras.io/</a:t>
            </a:r>
            <a:endParaRPr sz="1800" u="sng">
              <a:latin typeface="Times New Roman"/>
              <a:ea typeface="Times New Roman"/>
              <a:cs typeface="Times New Roman"/>
              <a:sym typeface="Times New Roman"/>
            </a:endParaRPr>
          </a:p>
          <a:p>
            <a:pPr indent="-251459" lvl="0" marL="342900" rtl="0" algn="just">
              <a:spcBef>
                <a:spcPts val="1000"/>
              </a:spcBef>
              <a:spcAft>
                <a:spcPts val="0"/>
              </a:spcAft>
              <a:buSzPts val="1440"/>
              <a:buFont typeface="Arial"/>
              <a:buNone/>
            </a:pPr>
            <a:r>
              <a:t/>
            </a:r>
            <a:endParaRPr b="0" i="0" sz="1800" u="none" strike="noStrike">
              <a:solidFill>
                <a:srgbClr val="000000"/>
              </a:solidFill>
              <a:latin typeface="Times New Roman"/>
              <a:ea typeface="Times New Roman"/>
              <a:cs typeface="Times New Roman"/>
              <a:sym typeface="Times New Roman"/>
            </a:endParaRPr>
          </a:p>
          <a:p>
            <a:pPr indent="-342900" lvl="0" marL="342900" rtl="0" algn="just">
              <a:spcBef>
                <a:spcPts val="1000"/>
              </a:spcBef>
              <a:spcAft>
                <a:spcPts val="0"/>
              </a:spcAft>
              <a:buSzPts val="1440"/>
              <a:buFont typeface="Arial"/>
              <a:buChar char="•"/>
            </a:pPr>
            <a:r>
              <a:rPr b="0" i="0" lang="en-US" sz="1800" u="none" strike="noStrike">
                <a:latin typeface="Times New Roman"/>
                <a:ea typeface="Times New Roman"/>
                <a:cs typeface="Times New Roman"/>
                <a:sym typeface="Times New Roman"/>
              </a:rPr>
              <a:t>Nvidia GeForce </a:t>
            </a:r>
            <a:r>
              <a:rPr lang="en-US" sz="1800">
                <a:latin typeface="Times New Roman"/>
                <a:ea typeface="Times New Roman"/>
                <a:cs typeface="Times New Roman"/>
                <a:sym typeface="Times New Roman"/>
              </a:rPr>
              <a:t>RTX 4090</a:t>
            </a:r>
            <a:r>
              <a:rPr b="0" i="0" lang="en-US" sz="1800" u="none" strike="noStrike">
                <a:latin typeface="Times New Roman"/>
                <a:ea typeface="Times New Roman"/>
                <a:cs typeface="Times New Roman"/>
                <a:sym typeface="Times New Roman"/>
              </a:rPr>
              <a:t> 24GB RAM</a:t>
            </a:r>
            <a:endParaRPr/>
          </a:p>
          <a:p>
            <a:pPr indent="-241300" lvl="0" marL="342900" rtl="0" algn="l">
              <a:spcBef>
                <a:spcPts val="1000"/>
              </a:spcBef>
              <a:spcAft>
                <a:spcPts val="0"/>
              </a:spcAft>
              <a:buSzPts val="1600"/>
              <a:buNone/>
            </a:pPr>
            <a:r>
              <a:t/>
            </a:r>
            <a:endParaRPr/>
          </a:p>
        </p:txBody>
      </p:sp>
      <p:pic>
        <p:nvPicPr>
          <p:cNvPr id="364" name="Google Shape;364;p16"/>
          <p:cNvPicPr preferRelativeResize="0"/>
          <p:nvPr/>
        </p:nvPicPr>
        <p:blipFill rotWithShape="1">
          <a:blip r:embed="rId6">
            <a:alphaModFix/>
          </a:blip>
          <a:srcRect b="0" l="0" r="0" t="0"/>
          <a:stretch/>
        </p:blipFill>
        <p:spPr>
          <a:xfrm>
            <a:off x="7699184" y="1509939"/>
            <a:ext cx="3219450" cy="1419225"/>
          </a:xfrm>
          <a:prstGeom prst="rect">
            <a:avLst/>
          </a:prstGeom>
          <a:noFill/>
          <a:ln>
            <a:noFill/>
          </a:ln>
        </p:spPr>
      </p:pic>
      <p:pic>
        <p:nvPicPr>
          <p:cNvPr id="365" name="Google Shape;365;p16"/>
          <p:cNvPicPr preferRelativeResize="0"/>
          <p:nvPr/>
        </p:nvPicPr>
        <p:blipFill rotWithShape="1">
          <a:blip r:embed="rId7">
            <a:alphaModFix/>
          </a:blip>
          <a:srcRect b="0" l="0" r="0" t="0"/>
          <a:stretch/>
        </p:blipFill>
        <p:spPr>
          <a:xfrm>
            <a:off x="1867269" y="4880662"/>
            <a:ext cx="1955796" cy="1251709"/>
          </a:xfrm>
          <a:prstGeom prst="rect">
            <a:avLst/>
          </a:prstGeom>
          <a:solidFill>
            <a:srgbClr val="000000"/>
          </a:solidFill>
          <a:ln cap="sq" cmpd="sng" w="444500">
            <a:solidFill>
              <a:srgbClr val="000000"/>
            </a:solidFill>
            <a:prstDash val="solid"/>
            <a:miter lim="800000"/>
            <a:headEnd len="sm" w="sm" type="none"/>
            <a:tailEnd len="sm" w="sm" type="none"/>
          </a:ln>
          <a:effectLst>
            <a:outerShdw blurRad="254000" rotWithShape="0" algn="bl" dir="2700000" dist="190500" sy="90000">
              <a:srgbClr val="000000">
                <a:alpha val="40000"/>
              </a:srgbClr>
            </a:outerShdw>
          </a:effectLst>
        </p:spPr>
      </p:pic>
      <p:pic>
        <p:nvPicPr>
          <p:cNvPr id="366" name="Google Shape;366;p16"/>
          <p:cNvPicPr preferRelativeResize="0"/>
          <p:nvPr/>
        </p:nvPicPr>
        <p:blipFill rotWithShape="1">
          <a:blip r:embed="rId8">
            <a:alphaModFix/>
          </a:blip>
          <a:srcRect b="0" l="0" r="0" t="0"/>
          <a:stretch/>
        </p:blipFill>
        <p:spPr>
          <a:xfrm>
            <a:off x="6813615" y="3706895"/>
            <a:ext cx="3511116" cy="175555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3600"/>
              <a:buFont typeface="Times New Roman"/>
              <a:buNone/>
            </a:pPr>
            <a:r>
              <a:rPr b="1" i="0" lang="en-US" sz="3600" u="none" strike="noStrike">
                <a:solidFill>
                  <a:schemeClr val="lt1"/>
                </a:solidFill>
                <a:latin typeface="Times New Roman"/>
                <a:ea typeface="Times New Roman"/>
                <a:cs typeface="Times New Roman"/>
                <a:sym typeface="Times New Roman"/>
              </a:rPr>
              <a:t>						Challenges</a:t>
            </a:r>
            <a:endParaRPr sz="3600">
              <a:solidFill>
                <a:schemeClr val="lt1"/>
              </a:solidFill>
            </a:endParaRPr>
          </a:p>
        </p:txBody>
      </p:sp>
      <p:sp>
        <p:nvSpPr>
          <p:cNvPr id="372" name="Google Shape;372;p17"/>
          <p:cNvSpPr txBox="1"/>
          <p:nvPr>
            <p:ph idx="1" type="body"/>
          </p:nvPr>
        </p:nvSpPr>
        <p:spPr>
          <a:xfrm>
            <a:off x="6729274" y="1424823"/>
            <a:ext cx="4651898" cy="5433177"/>
          </a:xfrm>
          <a:prstGeom prst="rect">
            <a:avLst/>
          </a:prstGeom>
          <a:noFill/>
          <a:ln>
            <a:noFill/>
          </a:ln>
        </p:spPr>
        <p:txBody>
          <a:bodyPr anchorCtr="0" anchor="t" bIns="45700" lIns="91425" spcFirstLastPara="1" rIns="91425" wrap="square" tIns="45700">
            <a:normAutofit/>
          </a:bodyPr>
          <a:lstStyle/>
          <a:p>
            <a:pPr indent="-342900" lvl="0" marL="342900" rtl="0" algn="l">
              <a:spcBef>
                <a:spcPts val="1000"/>
              </a:spcBef>
              <a:spcAft>
                <a:spcPts val="0"/>
              </a:spcAft>
              <a:buSzPts val="1440"/>
              <a:buChar char="►"/>
            </a:pPr>
            <a:r>
              <a:rPr lang="en-US" sz="1800">
                <a:latin typeface="Times New Roman"/>
                <a:ea typeface="Times New Roman"/>
                <a:cs typeface="Times New Roman"/>
                <a:sym typeface="Times New Roman"/>
              </a:rPr>
              <a:t>Inbalance Dataset</a:t>
            </a:r>
            <a:endParaRPr sz="1800">
              <a:latin typeface="Times New Roman"/>
              <a:ea typeface="Times New Roman"/>
              <a:cs typeface="Times New Roman"/>
              <a:sym typeface="Times New Roman"/>
            </a:endParaRPr>
          </a:p>
          <a:p>
            <a:pPr indent="-342900" lvl="0" marL="342900" rtl="0" algn="l">
              <a:spcBef>
                <a:spcPts val="1000"/>
              </a:spcBef>
              <a:spcAft>
                <a:spcPts val="0"/>
              </a:spcAft>
              <a:buSzPts val="1440"/>
              <a:buChar char="►"/>
            </a:pPr>
            <a:r>
              <a:rPr lang="en-US" sz="1800">
                <a:latin typeface="Times New Roman"/>
                <a:ea typeface="Times New Roman"/>
                <a:cs typeface="Times New Roman"/>
                <a:sym typeface="Times New Roman"/>
              </a:rPr>
              <a:t>Excessive data volume, image size, and batch size could not be increased significantly,</a:t>
            </a:r>
            <a:endParaRPr sz="1800">
              <a:latin typeface="Times New Roman"/>
              <a:ea typeface="Times New Roman"/>
              <a:cs typeface="Times New Roman"/>
              <a:sym typeface="Times New Roman"/>
            </a:endParaRPr>
          </a:p>
          <a:p>
            <a:pPr indent="-342900" lvl="0" marL="342900" rtl="0" algn="l">
              <a:spcBef>
                <a:spcPts val="1000"/>
              </a:spcBef>
              <a:spcAft>
                <a:spcPts val="0"/>
              </a:spcAft>
              <a:buSzPts val="1440"/>
              <a:buChar char="►"/>
            </a:pPr>
            <a:r>
              <a:rPr lang="en-US" sz="1800">
                <a:latin typeface="Times New Roman"/>
                <a:ea typeface="Times New Roman"/>
                <a:cs typeface="Times New Roman"/>
                <a:sym typeface="Times New Roman"/>
              </a:rPr>
              <a:t>Identification of erroneous data,</a:t>
            </a:r>
            <a:endParaRPr sz="1800">
              <a:latin typeface="Times New Roman"/>
              <a:ea typeface="Times New Roman"/>
              <a:cs typeface="Times New Roman"/>
              <a:sym typeface="Times New Roman"/>
            </a:endParaRPr>
          </a:p>
          <a:p>
            <a:pPr indent="-342900" lvl="0" marL="342900" rtl="0" algn="l">
              <a:spcBef>
                <a:spcPts val="1000"/>
              </a:spcBef>
              <a:spcAft>
                <a:spcPts val="0"/>
              </a:spcAft>
              <a:buSzPts val="1440"/>
              <a:buChar char="►"/>
            </a:pPr>
            <a:r>
              <a:rPr lang="en-US" sz="1800">
                <a:latin typeface="Times New Roman"/>
                <a:ea typeface="Times New Roman"/>
                <a:cs typeface="Times New Roman"/>
                <a:sym typeface="Times New Roman"/>
              </a:rPr>
              <a:t>Blurry and dirty background.</a:t>
            </a:r>
            <a:endParaRPr sz="1800">
              <a:latin typeface="Times New Roman"/>
              <a:ea typeface="Times New Roman"/>
              <a:cs typeface="Times New Roman"/>
              <a:sym typeface="Times New Roman"/>
            </a:endParaRPr>
          </a:p>
          <a:p>
            <a:pPr indent="0" lvl="0" marL="342900" rtl="0" algn="l">
              <a:spcBef>
                <a:spcPts val="1000"/>
              </a:spcBef>
              <a:spcAft>
                <a:spcPts val="0"/>
              </a:spcAft>
              <a:buNone/>
            </a:pPr>
            <a:r>
              <a:t/>
            </a:r>
            <a:endParaRPr sz="1800">
              <a:latin typeface="Times New Roman"/>
              <a:ea typeface="Times New Roman"/>
              <a:cs typeface="Times New Roman"/>
              <a:sym typeface="Times New Roman"/>
            </a:endParaRPr>
          </a:p>
          <a:p>
            <a:pPr indent="-251459" lvl="0" marL="342900" rtl="0" algn="l">
              <a:spcBef>
                <a:spcPts val="1000"/>
              </a:spcBef>
              <a:spcAft>
                <a:spcPts val="0"/>
              </a:spcAft>
              <a:buSzPts val="1440"/>
              <a:buNone/>
            </a:pPr>
            <a:r>
              <a:t/>
            </a:r>
            <a:endParaRPr sz="1800"/>
          </a:p>
        </p:txBody>
      </p:sp>
      <p:pic>
        <p:nvPicPr>
          <p:cNvPr id="373" name="Google Shape;373;p17"/>
          <p:cNvPicPr preferRelativeResize="0"/>
          <p:nvPr/>
        </p:nvPicPr>
        <p:blipFill rotWithShape="1">
          <a:blip r:embed="rId3">
            <a:alphaModFix/>
          </a:blip>
          <a:srcRect b="0" l="0" r="0" t="0"/>
          <a:stretch/>
        </p:blipFill>
        <p:spPr>
          <a:xfrm>
            <a:off x="646111" y="1846557"/>
            <a:ext cx="5619566" cy="315819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18"/>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REFERENCES</a:t>
            </a:r>
            <a:endParaRPr/>
          </a:p>
        </p:txBody>
      </p:sp>
      <p:sp>
        <p:nvSpPr>
          <p:cNvPr id="379" name="Google Shape;379;p18"/>
          <p:cNvSpPr txBox="1"/>
          <p:nvPr>
            <p:ph idx="1" type="body"/>
          </p:nvPr>
        </p:nvSpPr>
        <p:spPr>
          <a:xfrm>
            <a:off x="1023413" y="1189608"/>
            <a:ext cx="9904999" cy="458827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120"/>
              <a:buNone/>
            </a:pPr>
            <a:r>
              <a:rPr i="0" lang="en-US" sz="1400" strike="noStrike">
                <a:latin typeface="Times New Roman"/>
                <a:ea typeface="Times New Roman"/>
                <a:cs typeface="Times New Roman"/>
                <a:sym typeface="Times New Roman"/>
              </a:rPr>
              <a:t>Projemiz boyunca faydalandığımız kaynaklar ve referanslar şunlardır:</a:t>
            </a:r>
            <a:endParaRPr/>
          </a:p>
          <a:p>
            <a:pPr indent="0" lvl="0" marL="0" rtl="0" algn="l">
              <a:spcBef>
                <a:spcPts val="1000"/>
              </a:spcBef>
              <a:spcAft>
                <a:spcPts val="0"/>
              </a:spcAft>
              <a:buSzPts val="1120"/>
              <a:buNone/>
            </a:pPr>
            <a:r>
              <a:rPr b="0" i="0" lang="en-US" sz="1400" u="sng" strike="noStrike">
                <a:latin typeface="Times New Roman"/>
                <a:ea typeface="Times New Roman"/>
                <a:cs typeface="Times New Roman"/>
                <a:sym typeface="Times New Roman"/>
              </a:rPr>
              <a:t>- Ozichi, K. et al. (2019). "Cassava Disease Classification Using Support Vector Machines."</a:t>
            </a:r>
            <a:endParaRPr/>
          </a:p>
          <a:p>
            <a:pPr indent="0" lvl="0" marL="0" rtl="0" algn="l">
              <a:spcBef>
                <a:spcPts val="1000"/>
              </a:spcBef>
              <a:spcAft>
                <a:spcPts val="0"/>
              </a:spcAft>
              <a:buSzPts val="1120"/>
              <a:buNone/>
            </a:pPr>
            <a:r>
              <a:rPr b="0" i="0" lang="en-US" sz="1400" u="sng" strike="noStrike">
                <a:latin typeface="Times New Roman"/>
                <a:ea typeface="Times New Roman"/>
                <a:cs typeface="Times New Roman"/>
                <a:sym typeface="Times New Roman"/>
              </a:rPr>
              <a:t>- Mrisho, R. et al. (2020). "Deep Learning and Transfer Learning for Cassava Disease Detection."</a:t>
            </a:r>
            <a:endParaRPr/>
          </a:p>
          <a:p>
            <a:pPr indent="0" lvl="0" marL="0" rtl="0" algn="l">
              <a:spcBef>
                <a:spcPts val="1000"/>
              </a:spcBef>
              <a:spcAft>
                <a:spcPts val="0"/>
              </a:spcAft>
              <a:buSzPts val="1120"/>
              <a:buNone/>
            </a:pPr>
            <a:r>
              <a:rPr b="0" i="0" lang="en-US" sz="1400" u="sng" strike="noStrike">
                <a:latin typeface="Times New Roman"/>
                <a:ea typeface="Times New Roman"/>
                <a:cs typeface="Times New Roman"/>
                <a:sym typeface="Times New Roman"/>
              </a:rPr>
              <a:t>- Metlek, M. (2021). "Cassava Leaf Disease Classification Using ResNet 50 and MobileNetV2."</a:t>
            </a:r>
            <a:endParaRPr/>
          </a:p>
        </p:txBody>
      </p:sp>
    </p:spTree>
  </p:cSld>
  <p:clrMapOvr>
    <a:masterClrMapping/>
  </p:clrMapOvr>
  <p:transition spd="slow" p14:dur="1500">
    <p:split orient="ver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1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sz="3600">
                <a:latin typeface="Times New Roman"/>
                <a:ea typeface="Times New Roman"/>
                <a:cs typeface="Times New Roman"/>
                <a:sym typeface="Times New Roman"/>
              </a:rPr>
              <a:t>THANKS FOR WATCHING!</a:t>
            </a:r>
            <a:endParaRPr/>
          </a:p>
        </p:txBody>
      </p:sp>
      <p:sp>
        <p:nvSpPr>
          <p:cNvPr id="385" name="Google Shape;385;p19"/>
          <p:cNvSpPr txBox="1"/>
          <p:nvPr>
            <p:ph idx="1" type="body"/>
          </p:nvPr>
        </p:nvSpPr>
        <p:spPr>
          <a:xfrm>
            <a:off x="1104293"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sz="1800">
                <a:latin typeface="Times New Roman"/>
                <a:ea typeface="Times New Roman"/>
                <a:cs typeface="Times New Roman"/>
                <a:sym typeface="Times New Roman"/>
              </a:rPr>
              <a:t>Do you have any questions?</a:t>
            </a:r>
            <a:endParaRPr/>
          </a:p>
          <a:p>
            <a:pPr indent="-251459" lvl="0" marL="342900" rtl="0" algn="l">
              <a:spcBef>
                <a:spcPts val="1000"/>
              </a:spcBef>
              <a:spcAft>
                <a:spcPts val="0"/>
              </a:spcAft>
              <a:buSzPts val="1440"/>
              <a:buNone/>
            </a:pPr>
            <a:r>
              <a:t/>
            </a:r>
            <a:endParaRPr sz="1800">
              <a:latin typeface="Times New Roman"/>
              <a:ea typeface="Times New Roman"/>
              <a:cs typeface="Times New Roman"/>
              <a:sym typeface="Times New Roman"/>
            </a:endParaRPr>
          </a:p>
          <a:p>
            <a:pPr indent="-342900" lvl="0" marL="342900" rtl="0" algn="l">
              <a:spcBef>
                <a:spcPts val="1000"/>
              </a:spcBef>
              <a:spcAft>
                <a:spcPts val="0"/>
              </a:spcAft>
              <a:buSzPts val="1440"/>
              <a:buChar char="►"/>
            </a:pPr>
            <a:r>
              <a:rPr lang="en-US" sz="1800">
                <a:latin typeface="Times New Roman"/>
                <a:ea typeface="Times New Roman"/>
                <a:cs typeface="Times New Roman"/>
                <a:sym typeface="Times New Roman"/>
              </a:rPr>
              <a:t>Ali Baki TURKOZ</a:t>
            </a:r>
            <a:endParaRPr/>
          </a:p>
          <a:p>
            <a:pPr indent="-251459" lvl="0" marL="342900" rtl="0" algn="l">
              <a:spcBef>
                <a:spcPts val="1000"/>
              </a:spcBef>
              <a:spcAft>
                <a:spcPts val="0"/>
              </a:spcAft>
              <a:buSzPts val="1440"/>
              <a:buNone/>
            </a:pPr>
            <a:r>
              <a:t/>
            </a:r>
            <a:endParaRPr sz="1800">
              <a:latin typeface="Times New Roman"/>
              <a:ea typeface="Times New Roman"/>
              <a:cs typeface="Times New Roman"/>
              <a:sym typeface="Times New Roman"/>
            </a:endParaRPr>
          </a:p>
          <a:p>
            <a:pPr indent="-342900" lvl="0" marL="342900" rtl="0" algn="l">
              <a:spcBef>
                <a:spcPts val="1000"/>
              </a:spcBef>
              <a:spcAft>
                <a:spcPts val="0"/>
              </a:spcAft>
              <a:buSzPts val="1440"/>
              <a:buChar char="►"/>
            </a:pPr>
            <a:r>
              <a:rPr lang="en-US" sz="1800">
                <a:latin typeface="Times New Roman"/>
                <a:ea typeface="Times New Roman"/>
                <a:cs typeface="Times New Roman"/>
                <a:sym typeface="Times New Roman"/>
              </a:rPr>
              <a:t>Emre OZTURK</a:t>
            </a:r>
            <a:endParaRPr/>
          </a:p>
          <a:p>
            <a:pPr indent="-241300" lvl="0" marL="342900" rtl="0" algn="l">
              <a:spcBef>
                <a:spcPts val="1000"/>
              </a:spcBef>
              <a:spcAft>
                <a:spcPts val="0"/>
              </a:spcAft>
              <a:buSzPts val="1600"/>
              <a:buNone/>
            </a:pPr>
            <a:r>
              <a:t/>
            </a:r>
            <a:endParaRPr/>
          </a:p>
        </p:txBody>
      </p:sp>
      <p:pic>
        <p:nvPicPr>
          <p:cNvPr id="386" name="Google Shape;386;p19"/>
          <p:cNvPicPr preferRelativeResize="0"/>
          <p:nvPr/>
        </p:nvPicPr>
        <p:blipFill rotWithShape="1">
          <a:blip r:embed="rId3">
            <a:alphaModFix/>
          </a:blip>
          <a:srcRect b="0" l="0" r="0" t="0"/>
          <a:stretch/>
        </p:blipFill>
        <p:spPr>
          <a:xfrm>
            <a:off x="8082602" y="1227062"/>
            <a:ext cx="3147874" cy="3147874"/>
          </a:xfrm>
          <a:prstGeom prst="rect">
            <a:avLst/>
          </a:prstGeom>
          <a:noFill/>
          <a:ln>
            <a:noFill/>
          </a:ln>
          <a:effectLst>
            <a:reflection blurRad="0" dir="5400000" dist="5000" endA="0" endPos="30000" kx="0" rotWithShape="0" algn="bl" stA="30000" stPos="0" sy="-100000" ky="0"/>
          </a:effectLst>
        </p:spPr>
      </p:pic>
      <p:pic>
        <p:nvPicPr>
          <p:cNvPr id="387" name="Google Shape;387;p19"/>
          <p:cNvPicPr preferRelativeResize="0"/>
          <p:nvPr/>
        </p:nvPicPr>
        <p:blipFill rotWithShape="1">
          <a:blip r:embed="rId4">
            <a:alphaModFix/>
          </a:blip>
          <a:srcRect b="0" l="0" r="0" t="0"/>
          <a:stretch/>
        </p:blipFill>
        <p:spPr>
          <a:xfrm>
            <a:off x="4500450" y="2888174"/>
            <a:ext cx="3191100" cy="3559895"/>
          </a:xfrm>
          <a:prstGeom prst="ellipse">
            <a:avLst/>
          </a:prstGeom>
          <a:noFill/>
          <a:ln>
            <a:noFill/>
          </a:ln>
        </p:spPr>
      </p:pic>
    </p:spTree>
  </p:cSld>
  <p:clrMapOvr>
    <a:masterClrMapping/>
  </p:clrMapOvr>
  <p:transition spd="slow" p14:dur="1600">
    <p:blinds dir="vert"/>
  </p:transition>
</p:sld>
</file>

<file path=ppt/theme/theme1.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2023-12-25T13:16:11Z</dcterms:created>
  <dc:creator>Emre Öztürk</dc:creator>
</cp:coreProperties>
</file>